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463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1B2B11"/>
                </a:solidFill>
                <a:latin typeface="Playfair Display"/>
              </a:defRPr>
            </a:pPr>
            <a:r>
              <a:t>AURAPATH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B2B11"/>
                </a:solidFill>
                <a:latin typeface="Outfit"/>
              </a:defRPr>
            </a:pPr>
            <a:r>
              <a:t>Intelligent Eyewear for Cognitive Independence.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8229600"/>
          </a:xfrm>
          <a:prstGeom prst="rect">
            <a:avLst/>
          </a:prstGeom>
          <a:solidFill>
            <a:srgbClr val="1B2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2B11"/>
                </a:solidFill>
                <a:latin typeface="Playfair Display"/>
              </a:defRPr>
            </a:pPr>
            <a:r>
              <a:t>Memory Loss Is a Dignity Crisis.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55 million people worldwide live with dementia.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60% of dementia patients will wander, leading to trauma.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Social Isolation: Failed recognition accelerates cognitive decline.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Medication Danger: Prescription errors kill 7,000+ patients annually.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Market Size: $360B annual cost of dementia care in the 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8229600"/>
          </a:xfrm>
          <a:prstGeom prst="rect">
            <a:avLst/>
          </a:prstGeom>
          <a:solidFill>
            <a:srgbClr val="1B2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2B11"/>
                </a:solidFill>
                <a:latin typeface="Playfair Display"/>
              </a:defRPr>
            </a:pPr>
            <a:r>
              <a:t>AuraPath: A Digital Prosthetic for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Social Recognition: Names whispered via bone-conduction audio.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Medication Safety: Computer vision verifies labels before every dose.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Wandering Prevention: Geofencing and haptic navigation guide users home.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Privacy-First: All inference runs on-device via Apple MLX NPUs.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No Stigma: Indistinguishable from normal eyewear.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8229600"/>
          </a:xfrm>
          <a:prstGeom prst="rect">
            <a:avLst/>
          </a:prstGeom>
          <a:solidFill>
            <a:srgbClr val="1B2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2B11"/>
                </a:solidFill>
                <a:latin typeface="Playfair Display"/>
              </a:defRPr>
            </a:pPr>
            <a:r>
              <a:t>Three Forces. One Inflection 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Edge AI Power: Apple M-series NPUs enable local vision models (200ms latency).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Aging Population: 10,000 boomers turn 65 daily; cases tripling by 2050.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Category Gap: Passive aids react after failure; AuraPath prevents it proactively.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8229600"/>
          </a:xfrm>
          <a:prstGeom prst="rect">
            <a:avLst/>
          </a:prstGeom>
          <a:solidFill>
            <a:srgbClr val="1B2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2B11"/>
                </a:solidFill>
                <a:latin typeface="Playfair Display"/>
              </a:defRPr>
            </a:pPr>
            <a:r>
              <a:t>Raising $750K Pre-Seed.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40% Hardware R&amp;D: MLX optimization and NPU feasibility.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25% Regulatory &amp; IP: FDA classification and ISO 13485 QMS.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20% Clinical Pilot: Caregiver beta and facility partnerships.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15% Operations: Advisory board and team scaling.</a:t>
            </a:r>
          </a:p>
          <a:p>
            <a:pPr>
              <a:spcAft>
                <a:spcPts val="1800"/>
              </a:spcAft>
              <a:defRPr sz="2200">
                <a:solidFill>
                  <a:srgbClr val="1B2B11"/>
                </a:solidFill>
                <a:latin typeface="Outfit"/>
              </a:defRPr>
            </a:pPr>
            <a:r>
              <a:t>• Terms: Post-Money SAFE | $4M–$6M Cap | 20% Discount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