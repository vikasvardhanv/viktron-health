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Funds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Product</c:v>
                </c:pt>
                <c:pt idx="1">
                  <c:v>GTM</c:v>
                </c:pt>
                <c:pt idx="2">
                  <c:v>Team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0.4</c:v>
                </c:pt>
                <c:pt idx="1">
                  <c:v>0.3</c:v>
                </c:pt>
                <c:pt idx="2">
                  <c:v>0.3</c:v>
                </c:pt>
              </c:numCache>
            </c:numRef>
          </c:val>
        </c:ser>
      </c:pieChart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57600" y="-914400"/>
            <a:ext cx="10972800" cy="10058400"/>
          </a:xfrm>
          <a:prstGeom prst="ellipse">
            <a:avLst/>
          </a:prstGeom>
          <a:solidFill>
            <a:srgbClr val="1B2B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0" y="2926080"/>
            <a:ext cx="6400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0" b="1">
                <a:solidFill>
                  <a:srgbClr val="1B2B11"/>
                </a:solidFill>
                <a:latin typeface="Playfair Display"/>
              </a:defRPr>
            </a:pPr>
            <a:r>
              <a:t>AURAGUIDE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4389120"/>
            <a:ext cx="6400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1B2B11"/>
                </a:solidFill>
                <a:latin typeface="Outfit"/>
              </a:defRPr>
            </a:pPr>
            <a:r>
              <a:t>A Lifeline for Family Caregivers.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B2B11"/>
                </a:solidFill>
                <a:latin typeface="Playfair Display"/>
              </a:defRPr>
            </a:pPr>
            <a:r>
              <a:t>63 Million Invisible Workers. $1 Trillion in Unpaid Labor.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2926080" cy="274320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1B2B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B5964B"/>
                </a:solidFill>
                <a:latin typeface="Playfair Display"/>
              </a:defRPr>
            </a:pPr>
            <a:r>
              <a:t>63M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017520"/>
            <a:ext cx="27432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B2B11"/>
                </a:solidFill>
                <a:latin typeface="Outfit"/>
              </a:defRPr>
            </a:pPr>
            <a:r>
              <a:t>Unpaid family caregivers in the US, 19% increase since 2020.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0" y="1828800"/>
            <a:ext cx="2926080" cy="274320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1B2B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0" y="210312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B5964B"/>
                </a:solidFill>
                <a:latin typeface="Playfair Display"/>
              </a:defRPr>
            </a:pPr>
            <a:r>
              <a:t>$1T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3017520"/>
            <a:ext cx="27432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B2B11"/>
                </a:solidFill>
                <a:latin typeface="Outfit"/>
              </a:defRPr>
            </a:pPr>
            <a:r>
              <a:t>Annual economic value of unpaid caregiving in 2024.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0" y="1828800"/>
            <a:ext cx="2926080" cy="274320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1B2B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210312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B5964B"/>
                </a:solidFill>
                <a:latin typeface="Playfair Display"/>
              </a:defRPr>
            </a:pPr>
            <a:r>
              <a:t>27h/wk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3017520"/>
            <a:ext cx="27432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B2B11"/>
                </a:solidFill>
                <a:latin typeface="Outfit"/>
              </a:defRPr>
            </a:pPr>
            <a:r>
              <a:t>Avg weekly caregiving hours; 40%+ high-intensity.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515600" y="1828800"/>
            <a:ext cx="2926080" cy="274320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1B2B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0" y="2103120"/>
            <a:ext cx="29260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B5964B"/>
                </a:solidFill>
                <a:latin typeface="Playfair Display"/>
              </a:defRPr>
            </a:pPr>
            <a:r>
              <a:t>$10.2K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07040" y="3017520"/>
            <a:ext cx="2743200" cy="1463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B2B11"/>
                </a:solidFill>
                <a:latin typeface="Outfit"/>
              </a:defRPr>
            </a:pPr>
            <a:r>
              <a:t>Avg annual out-of-pocket spend per caregiver.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B2B11"/>
                </a:solidFill>
                <a:latin typeface="Playfair Display"/>
              </a:defRPr>
            </a:pPr>
            <a:r>
              <a:t>The Caregiver Collapse Cycle.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828800"/>
            <a:ext cx="2743200" cy="3657600"/>
          </a:xfrm>
          <a:prstGeom prst="rect">
            <a:avLst/>
          </a:prstGeom>
          <a:solidFill>
            <a:srgbClr val="E1EAD8"/>
          </a:solidFill>
          <a:ln>
            <a:solidFill>
              <a:srgbClr val="1B2B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t>Phase 1: Physical Blockade</a:t>
            </a:r>
          </a:p>
          <a:p>
            <a:pPr>
              <a:defRPr sz="1400"/>
            </a:pPr>
            <a:r>
              <a:t>90% of medication errors reported occur at home. Hands-full reality.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0" y="1828800"/>
            <a:ext cx="2743200" cy="3657600"/>
          </a:xfrm>
          <a:prstGeom prst="rect">
            <a:avLst/>
          </a:prstGeom>
          <a:solidFill>
            <a:srgbClr val="E1EAD8"/>
          </a:solidFill>
          <a:ln>
            <a:solidFill>
              <a:srgbClr val="1B2B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114800" y="201168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t>Phase 2: Knowledge Gap</a:t>
            </a:r>
          </a:p>
          <a:p>
            <a:pPr>
              <a:defRPr sz="1400"/>
            </a:pPr>
            <a:r>
              <a:t>78% manage complex tasks with zero clinical background.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0" y="1828800"/>
            <a:ext cx="2743200" cy="3657600"/>
          </a:xfrm>
          <a:prstGeom prst="rect">
            <a:avLst/>
          </a:prstGeom>
          <a:solidFill>
            <a:srgbClr val="E1EAD8"/>
          </a:solidFill>
          <a:ln>
            <a:solidFill>
              <a:srgbClr val="1B2B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201168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t>Phase 3: Critical Errors</a:t>
            </a:r>
          </a:p>
          <a:p>
            <a:pPr>
              <a:defRPr sz="1400"/>
            </a:pPr>
            <a:r>
              <a:t>Medication errors cost US system $300B annually.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10515600" y="1828800"/>
            <a:ext cx="2743200" cy="3657600"/>
          </a:xfrm>
          <a:prstGeom prst="rect">
            <a:avLst/>
          </a:prstGeom>
          <a:solidFill>
            <a:srgbClr val="E1EAD8"/>
          </a:solidFill>
          <a:ln>
            <a:solidFill>
              <a:srgbClr val="1B2B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0" y="201168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/>
            </a:pPr>
            <a:r>
              <a:t>Phase 4: Burnout</a:t>
            </a:r>
          </a:p>
          <a:p>
            <a:pPr>
              <a:defRPr sz="1400"/>
            </a:pPr>
            <a:r>
              <a:t>87% report stress. ER use rises 73% when caregivers burn out.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B2B11"/>
                </a:solidFill>
                <a:latin typeface="Playfair Display"/>
              </a:defRPr>
            </a:pPr>
            <a:r>
              <a:t>Software-First, Recurring Revenue Engine.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1828800"/>
            <a:ext cx="3657600" cy="365760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1B2B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031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B5964B"/>
                </a:solidFill>
                <a:latin typeface="Playfair Display"/>
              </a:defRPr>
            </a:pPr>
            <a:r>
              <a:t>Free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3017520"/>
            <a:ext cx="347472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B2B11"/>
                </a:solidFill>
                <a:latin typeface="Outfit"/>
              </a:defRPr>
            </a:pPr>
            <a:r>
              <a:t>Basic logging &amp; reminders. Onboarding funnel.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0" y="1828800"/>
            <a:ext cx="3657600" cy="365760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1B2B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0" y="21031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B5964B"/>
                </a:solidFill>
                <a:latin typeface="Playfair Display"/>
              </a:defRPr>
            </a:pPr>
            <a:r>
              <a:t>Premium - $14.99/mo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77840" y="3017520"/>
            <a:ext cx="347472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B2B11"/>
                </a:solidFill>
                <a:latin typeface="Outfit"/>
              </a:defRPr>
            </a:pPr>
            <a:r>
              <a:t>Full Voice AI, Clinical Interaction Checking, Wellbeing monitoring.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0058400" y="1828800"/>
            <a:ext cx="3657600" cy="3657600"/>
          </a:xfrm>
          <a:prstGeom prst="roundRect">
            <a:avLst/>
          </a:prstGeom>
          <a:solidFill>
            <a:srgbClr val="FFFFFF"/>
          </a:solidFill>
          <a:ln w="50800">
            <a:solidFill>
              <a:srgbClr val="1B2B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0" y="210312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B5964B"/>
                </a:solidFill>
                <a:latin typeface="Playfair Display"/>
              </a:defRPr>
            </a:pPr>
            <a:r>
              <a:t>Enterprise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49840" y="3017520"/>
            <a:ext cx="347472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1B2B11"/>
                </a:solidFill>
                <a:latin typeface="Outfit"/>
              </a:defRPr>
            </a:pPr>
            <a:r>
              <a:t>Agencies &amp; Discharge programs. Admin dashboard.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13716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1B2B11"/>
                </a:solidFill>
                <a:latin typeface="Playfair Display"/>
              </a:defRPr>
            </a:pPr>
            <a:r>
              <a:t>The Ask: $500,000 Pre-Seed.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828800"/>
          <a:ext cx="5486400" cy="54864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