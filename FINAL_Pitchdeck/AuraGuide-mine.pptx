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000000"/>
          </a:solidFill>
        </a:fill>
      </a:tcStyle>
    </a:band2H>
    <a:firstCol>
      <a:tcTxStyle b="on"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inor">
          <a:srgbClr val="000000"/>
        </a:fontRef>
        <a:srgbClr val="000000"/>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9"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20"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pic>
        <p:nvPicPr>
          <p:cNvPr id="27"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28"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29"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pic>
        <p:nvPicPr>
          <p:cNvPr id="36"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37"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38"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pic>
        <p:nvPicPr>
          <p:cNvPr id="45"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46"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47"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pic>
        <p:nvPicPr>
          <p:cNvPr id="54"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55"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56"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pic>
        <p:nvPicPr>
          <p:cNvPr id="63"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64"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65"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pic>
        <p:nvPicPr>
          <p:cNvPr id="72"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73"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74"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pic>
        <p:nvPicPr>
          <p:cNvPr id="81"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82"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83"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pic>
        <p:nvPicPr>
          <p:cNvPr id="90"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91"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92"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pic>
        <p:nvPicPr>
          <p:cNvPr id="99"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00" name="Shape 0"/>
          <p:cNvSpPr/>
          <p:nvPr/>
        </p:nvSpPr>
        <p:spPr>
          <a:xfrm>
            <a:off x="0" y="0"/>
            <a:ext cx="14630400" cy="8229600"/>
          </a:xfrm>
          <a:prstGeom prst="rect">
            <a:avLst/>
          </a:prstGeom>
          <a:solidFill>
            <a:srgbClr val="FAFAFA"/>
          </a:solidFill>
          <a:ln w="12700">
            <a:miter lim="400000"/>
          </a:ln>
        </p:spPr>
        <p:txBody>
          <a:bodyPr lIns="45718" tIns="45718" rIns="45718" bIns="45718"/>
          <a:lstStyle/>
          <a:p>
            <a:pPr>
              <a:defRPr>
                <a:latin typeface="+mj-lt"/>
                <a:ea typeface="+mj-ea"/>
                <a:cs typeface="+mj-cs"/>
                <a:sym typeface="Calibri"/>
              </a:defRPr>
            </a:pPr>
          </a:p>
        </p:txBody>
      </p:sp>
      <p:sp>
        <p:nvSpPr>
          <p:cNvPr id="101" name="Slide Number"/>
          <p:cNvSpPr txBox="1"/>
          <p:nvPr>
            <p:ph type="sldNum" sz="quarter" idx="2"/>
          </p:nvPr>
        </p:nvSpPr>
        <p:spPr>
          <a:xfrm>
            <a:off x="10211466" y="7493000"/>
            <a:ext cx="273655" cy="2692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2192020" y="923925"/>
            <a:ext cx="11704320" cy="20021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8166100" y="2926079"/>
            <a:ext cx="5730241" cy="530352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0211466" y="7493000"/>
            <a:ext cx="273654" cy="269239"/>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0"/>
          <p:cNvSpPr/>
          <p:nvPr/>
        </p:nvSpPr>
        <p:spPr>
          <a:xfrm>
            <a:off x="793790" y="3443644"/>
            <a:ext cx="4128016" cy="373144"/>
          </a:xfrm>
          <a:prstGeom prst="roundRect">
            <a:avLst>
              <a:gd name="adj" fmla="val 17872"/>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11" name="Text 1"/>
          <p:cNvSpPr txBox="1"/>
          <p:nvPr/>
        </p:nvSpPr>
        <p:spPr>
          <a:xfrm>
            <a:off x="912850" y="3503176"/>
            <a:ext cx="3956944"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83F5B"/>
                </a:solidFill>
                <a:latin typeface="Martel Sans Light"/>
                <a:ea typeface="Martel Sans Light"/>
                <a:cs typeface="Martel Sans Light"/>
                <a:sym typeface="Martel Sans Light"/>
              </a:defRPr>
            </a:lvl1pPr>
          </a:lstStyle>
          <a:p>
            <a:pPr/>
            <a:r>
              <a:t>APP STORE READY | DELAWARE C-CORP | PRE-SEED</a:t>
            </a:r>
          </a:p>
        </p:txBody>
      </p:sp>
      <p:sp>
        <p:nvSpPr>
          <p:cNvPr id="112" name="Text 2"/>
          <p:cNvSpPr txBox="1"/>
          <p:nvPr/>
        </p:nvSpPr>
        <p:spPr>
          <a:xfrm>
            <a:off x="793788" y="3896081"/>
            <a:ext cx="3230632" cy="83552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700"/>
              </a:lnSpc>
              <a:defRPr sz="5300">
                <a:solidFill>
                  <a:srgbClr val="272D45"/>
                </a:solidFill>
                <a:latin typeface="Martel Sans"/>
                <a:ea typeface="Martel Sans"/>
                <a:cs typeface="Martel Sans"/>
                <a:sym typeface="Martel Sans"/>
              </a:defRPr>
            </a:lvl1pPr>
          </a:lstStyle>
          <a:p>
            <a:pPr/>
            <a:r>
              <a:t>AuraGuide</a:t>
            </a:r>
          </a:p>
        </p:txBody>
      </p:sp>
      <p:sp>
        <p:nvSpPr>
          <p:cNvPr id="113" name="Text 3"/>
          <p:cNvSpPr txBox="1"/>
          <p:nvPr/>
        </p:nvSpPr>
        <p:spPr>
          <a:xfrm>
            <a:off x="793790" y="5049558"/>
            <a:ext cx="3419060" cy="2993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272D45"/>
                </a:solidFill>
                <a:latin typeface="Martel Sans"/>
                <a:ea typeface="Martel Sans"/>
                <a:cs typeface="Martel Sans"/>
                <a:sym typeface="Martel Sans"/>
              </a:defRPr>
            </a:lvl1pPr>
          </a:lstStyle>
          <a:p>
            <a:pPr/>
            <a:r>
              <a:t>A Lifeline for Family Caregivers.</a:t>
            </a:r>
          </a:p>
        </p:txBody>
      </p:sp>
      <p:sp>
        <p:nvSpPr>
          <p:cNvPr id="114" name="Text 4"/>
          <p:cNvSpPr txBox="1"/>
          <p:nvPr/>
        </p:nvSpPr>
        <p:spPr>
          <a:xfrm>
            <a:off x="793790" y="5657374"/>
            <a:ext cx="9447194" cy="2978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83F5B"/>
                </a:solidFill>
                <a:latin typeface="Martel Sans Light"/>
                <a:ea typeface="Martel Sans Light"/>
                <a:cs typeface="Martel Sans Light"/>
                <a:sym typeface="Martel Sans Light"/>
              </a:defRPr>
            </a:lvl1pPr>
          </a:lstStyle>
          <a:p>
            <a:pPr/>
            <a:r>
              <a:t>Voice-first AI assistant that reduces caregiver burden, prevents medical errors, and protects caregiver wellbeing.</a:t>
            </a:r>
          </a:p>
        </p:txBody>
      </p:sp>
      <p:sp>
        <p:nvSpPr>
          <p:cNvPr id="115" name="Shape 5"/>
          <p:cNvSpPr/>
          <p:nvPr/>
        </p:nvSpPr>
        <p:spPr>
          <a:xfrm>
            <a:off x="793790" y="6247686"/>
            <a:ext cx="13042821" cy="14884"/>
          </a:xfrm>
          <a:prstGeom prst="rect">
            <a:avLst/>
          </a:prstGeom>
          <a:solidFill>
            <a:srgbClr val="383F5B">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116" name="Text 6"/>
          <p:cNvSpPr txBox="1"/>
          <p:nvPr/>
        </p:nvSpPr>
        <p:spPr>
          <a:xfrm>
            <a:off x="793790" y="6535339"/>
            <a:ext cx="5604620"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i="1" sz="1200">
                <a:solidFill>
                  <a:srgbClr val="383F5B"/>
                </a:solidFill>
                <a:latin typeface="Martel Sans Light"/>
                <a:ea typeface="Martel Sans Light"/>
                <a:cs typeface="Martel Sans Light"/>
                <a:sym typeface="Martel Sans Light"/>
              </a:defRPr>
            </a:lvl1pPr>
          </a:lstStyle>
          <a:p>
            <a:pPr/>
            <a:r>
              <a:t>"63 Million Invisible Workers. $1 Trillion in Unpaid Labor. Zero Purpose-Built Tools."</a:t>
            </a:r>
          </a:p>
        </p:txBody>
      </p:sp>
      <p:sp>
        <p:nvSpPr>
          <p:cNvPr id="117" name="Text 7"/>
          <p:cNvSpPr txBox="1"/>
          <p:nvPr/>
        </p:nvSpPr>
        <p:spPr>
          <a:xfrm>
            <a:off x="793790" y="7012661"/>
            <a:ext cx="3491037"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83F5B"/>
                </a:solidFill>
                <a:latin typeface="Martel Sans Light"/>
                <a:ea typeface="Martel Sans Light"/>
                <a:cs typeface="Martel Sans Light"/>
                <a:sym typeface="Martel Sans Light"/>
              </a:defRPr>
            </a:lvl1pPr>
          </a:lstStyle>
          <a:p>
            <a:pPr/>
            <a:r>
              <a:t>CONFIDENTIAL | APRIL 2026 | VIKTRON HEALTH</a:t>
            </a:r>
          </a:p>
        </p:txBody>
      </p:sp>
      <p:pic>
        <p:nvPicPr>
          <p:cNvPr id="118" name="pasted-movie.png" descr="pasted-movie.png"/>
          <p:cNvPicPr>
            <a:picLocks noChangeAspect="1"/>
          </p:cNvPicPr>
          <p:nvPr/>
        </p:nvPicPr>
        <p:blipFill>
          <a:blip r:embed="rId2">
            <a:extLst/>
          </a:blip>
          <a:stretch>
            <a:fillRect/>
          </a:stretch>
        </p:blipFill>
        <p:spPr>
          <a:xfrm>
            <a:off x="0" y="-4530"/>
            <a:ext cx="14630401" cy="248412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0"/>
          <p:cNvSpPr/>
          <p:nvPr/>
        </p:nvSpPr>
        <p:spPr>
          <a:xfrm>
            <a:off x="781407" y="608408"/>
            <a:ext cx="912854" cy="294682"/>
          </a:xfrm>
          <a:prstGeom prst="roundRect">
            <a:avLst>
              <a:gd name="adj" fmla="val 18935"/>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21" name="Text 1"/>
          <p:cNvSpPr txBox="1"/>
          <p:nvPr/>
        </p:nvSpPr>
        <p:spPr>
          <a:xfrm>
            <a:off x="880943" y="658176"/>
            <a:ext cx="725401"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THE CRISIS</a:t>
            </a:r>
          </a:p>
        </p:txBody>
      </p:sp>
      <p:sp>
        <p:nvSpPr>
          <p:cNvPr id="122" name="Text 2"/>
          <p:cNvSpPr txBox="1"/>
          <p:nvPr/>
        </p:nvSpPr>
        <p:spPr>
          <a:xfrm>
            <a:off x="781406" y="958572"/>
            <a:ext cx="8551864" cy="4998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sz="3200">
                <a:solidFill>
                  <a:srgbClr val="272D45"/>
                </a:solidFill>
                <a:latin typeface="Martel Sans"/>
                <a:ea typeface="Martel Sans"/>
                <a:cs typeface="Martel Sans"/>
                <a:sym typeface="Martel Sans"/>
              </a:defRPr>
            </a:lvl1pPr>
          </a:lstStyle>
          <a:p>
            <a:pPr/>
            <a:r>
              <a:t>The Invisible Backbone of American Healthcare</a:t>
            </a:r>
          </a:p>
        </p:txBody>
      </p:sp>
      <p:sp>
        <p:nvSpPr>
          <p:cNvPr id="123" name="Text 3"/>
          <p:cNvSpPr txBox="1"/>
          <p:nvPr/>
        </p:nvSpPr>
        <p:spPr>
          <a:xfrm>
            <a:off x="781406" y="1685806"/>
            <a:ext cx="9177363"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Family caregivers are the backbone of American healthcare — yet they remain completely invisible to the technology industry.</a:t>
            </a:r>
          </a:p>
        </p:txBody>
      </p:sp>
      <p:sp>
        <p:nvSpPr>
          <p:cNvPr id="124" name="Shape 4"/>
          <p:cNvSpPr/>
          <p:nvPr/>
        </p:nvSpPr>
        <p:spPr>
          <a:xfrm>
            <a:off x="781407" y="2085975"/>
            <a:ext cx="6464261" cy="2006203"/>
          </a:xfrm>
          <a:prstGeom prst="roundRect">
            <a:avLst>
              <a:gd name="adj" fmla="val 3477"/>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25" name="Text 5"/>
          <p:cNvSpPr txBox="1"/>
          <p:nvPr/>
        </p:nvSpPr>
        <p:spPr>
          <a:xfrm>
            <a:off x="3204259" y="2259568"/>
            <a:ext cx="1618556" cy="10128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63M</a:t>
            </a:r>
          </a:p>
        </p:txBody>
      </p:sp>
      <p:sp>
        <p:nvSpPr>
          <p:cNvPr id="126" name="Text 6"/>
          <p:cNvSpPr txBox="1"/>
          <p:nvPr/>
        </p:nvSpPr>
        <p:spPr>
          <a:xfrm>
            <a:off x="2838389" y="3380780"/>
            <a:ext cx="2350295"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Unpaid Family Caregivers</a:t>
            </a:r>
          </a:p>
        </p:txBody>
      </p:sp>
      <p:sp>
        <p:nvSpPr>
          <p:cNvPr id="127" name="Text 7"/>
          <p:cNvSpPr txBox="1"/>
          <p:nvPr/>
        </p:nvSpPr>
        <p:spPr>
          <a:xfrm>
            <a:off x="955000" y="3723442"/>
            <a:ext cx="2645966"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In the US today — a 19% increase since 2020.</a:t>
            </a:r>
          </a:p>
        </p:txBody>
      </p:sp>
      <p:sp>
        <p:nvSpPr>
          <p:cNvPr id="128" name="Shape 8"/>
          <p:cNvSpPr/>
          <p:nvPr/>
        </p:nvSpPr>
        <p:spPr>
          <a:xfrm>
            <a:off x="7384612" y="2085975"/>
            <a:ext cx="6464380" cy="2006203"/>
          </a:xfrm>
          <a:prstGeom prst="roundRect">
            <a:avLst>
              <a:gd name="adj" fmla="val 3477"/>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29" name="Text 9"/>
          <p:cNvSpPr txBox="1"/>
          <p:nvPr/>
        </p:nvSpPr>
        <p:spPr>
          <a:xfrm>
            <a:off x="9899225" y="2259568"/>
            <a:ext cx="1435157" cy="10128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$1T</a:t>
            </a:r>
          </a:p>
        </p:txBody>
      </p:sp>
      <p:sp>
        <p:nvSpPr>
          <p:cNvPr id="130" name="Text 10"/>
          <p:cNvSpPr txBox="1"/>
          <p:nvPr/>
        </p:nvSpPr>
        <p:spPr>
          <a:xfrm>
            <a:off x="9539129" y="3380780"/>
            <a:ext cx="2155231"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Annual Economic Value</a:t>
            </a:r>
          </a:p>
        </p:txBody>
      </p:sp>
      <p:sp>
        <p:nvSpPr>
          <p:cNvPr id="131" name="Text 11"/>
          <p:cNvSpPr txBox="1"/>
          <p:nvPr/>
        </p:nvSpPr>
        <p:spPr>
          <a:xfrm>
            <a:off x="7558206" y="3723442"/>
            <a:ext cx="4149936"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Unpaid caregiving in 2024 exceeds total US Medicaid spending of $932B.</a:t>
            </a:r>
          </a:p>
        </p:txBody>
      </p:sp>
      <p:sp>
        <p:nvSpPr>
          <p:cNvPr id="132" name="Shape 12"/>
          <p:cNvSpPr/>
          <p:nvPr/>
        </p:nvSpPr>
        <p:spPr>
          <a:xfrm>
            <a:off x="781407" y="4231123"/>
            <a:ext cx="6464261" cy="2006205"/>
          </a:xfrm>
          <a:prstGeom prst="roundRect">
            <a:avLst>
              <a:gd name="adj" fmla="val 3477"/>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33" name="Text 13"/>
          <p:cNvSpPr txBox="1"/>
          <p:nvPr/>
        </p:nvSpPr>
        <p:spPr>
          <a:xfrm>
            <a:off x="2860032" y="4404717"/>
            <a:ext cx="2307010" cy="10128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27 hrs</a:t>
            </a:r>
          </a:p>
        </p:txBody>
      </p:sp>
      <p:sp>
        <p:nvSpPr>
          <p:cNvPr id="134" name="Text 14"/>
          <p:cNvSpPr txBox="1"/>
          <p:nvPr/>
        </p:nvSpPr>
        <p:spPr>
          <a:xfrm>
            <a:off x="3163570" y="5525927"/>
            <a:ext cx="1699816"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Per Week Average</a:t>
            </a:r>
          </a:p>
        </p:txBody>
      </p:sp>
      <p:sp>
        <p:nvSpPr>
          <p:cNvPr id="135" name="Text 15"/>
          <p:cNvSpPr txBox="1"/>
          <p:nvPr/>
        </p:nvSpPr>
        <p:spPr>
          <a:xfrm>
            <a:off x="955000" y="5868591"/>
            <a:ext cx="4039928"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40%+ provide high-intensity care. Only 22% receive any formal training.</a:t>
            </a:r>
          </a:p>
        </p:txBody>
      </p:sp>
      <p:sp>
        <p:nvSpPr>
          <p:cNvPr id="136" name="Shape 16"/>
          <p:cNvSpPr/>
          <p:nvPr/>
        </p:nvSpPr>
        <p:spPr>
          <a:xfrm>
            <a:off x="7384612" y="4231123"/>
            <a:ext cx="6464380" cy="2006205"/>
          </a:xfrm>
          <a:prstGeom prst="roundRect">
            <a:avLst>
              <a:gd name="adj" fmla="val 3477"/>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37" name="Text 17"/>
          <p:cNvSpPr txBox="1"/>
          <p:nvPr/>
        </p:nvSpPr>
        <p:spPr>
          <a:xfrm>
            <a:off x="9118465" y="4404717"/>
            <a:ext cx="2996674" cy="10128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$10,200</a:t>
            </a:r>
          </a:p>
        </p:txBody>
      </p:sp>
      <p:sp>
        <p:nvSpPr>
          <p:cNvPr id="138" name="Text 18"/>
          <p:cNvSpPr txBox="1"/>
          <p:nvPr/>
        </p:nvSpPr>
        <p:spPr>
          <a:xfrm>
            <a:off x="9565630" y="5525927"/>
            <a:ext cx="2102347"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Out-of-Pocket Per Year</a:t>
            </a:r>
          </a:p>
        </p:txBody>
      </p:sp>
      <p:sp>
        <p:nvSpPr>
          <p:cNvPr id="139" name="Text 19"/>
          <p:cNvSpPr txBox="1"/>
          <p:nvPr/>
        </p:nvSpPr>
        <p:spPr>
          <a:xfrm>
            <a:off x="7558206" y="5868591"/>
            <a:ext cx="2531120"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1 in 4 take on debt. 1 in 5 cannot afford food.</a:t>
            </a:r>
          </a:p>
        </p:txBody>
      </p:sp>
      <p:sp>
        <p:nvSpPr>
          <p:cNvPr id="140" name="Shape 20"/>
          <p:cNvSpPr/>
          <p:nvPr/>
        </p:nvSpPr>
        <p:spPr>
          <a:xfrm>
            <a:off x="781407" y="6393536"/>
            <a:ext cx="13067586" cy="876302"/>
          </a:xfrm>
          <a:prstGeom prst="roundRect">
            <a:avLst>
              <a:gd name="adj" fmla="val 7959"/>
            </a:avLst>
          </a:prstGeom>
          <a:solidFill>
            <a:srgbClr val="FCF2B5"/>
          </a:solidFill>
          <a:ln w="12700">
            <a:miter lim="400000"/>
          </a:ln>
        </p:spPr>
        <p:txBody>
          <a:bodyPr lIns="45718" tIns="45718" rIns="45718" bIns="45718"/>
          <a:lstStyle/>
          <a:p>
            <a:pPr>
              <a:defRPr>
                <a:latin typeface="+mj-lt"/>
                <a:ea typeface="+mj-ea"/>
                <a:cs typeface="+mj-cs"/>
                <a:sym typeface="Calibri"/>
              </a:defRPr>
            </a:pPr>
          </a:p>
        </p:txBody>
      </p:sp>
      <p:pic>
        <p:nvPicPr>
          <p:cNvPr id="141" name="Image 0" descr="Image 0"/>
          <p:cNvPicPr>
            <a:picLocks noChangeAspect="1"/>
          </p:cNvPicPr>
          <p:nvPr/>
        </p:nvPicPr>
        <p:blipFill>
          <a:blip r:embed="rId2">
            <a:extLst/>
          </a:blip>
          <a:stretch>
            <a:fillRect/>
          </a:stretch>
        </p:blipFill>
        <p:spPr>
          <a:xfrm>
            <a:off x="947378" y="6615707"/>
            <a:ext cx="207528" cy="165975"/>
          </a:xfrm>
          <a:prstGeom prst="rect">
            <a:avLst/>
          </a:prstGeom>
          <a:ln w="12700">
            <a:miter lim="400000"/>
          </a:ln>
        </p:spPr>
      </p:pic>
      <p:sp>
        <p:nvSpPr>
          <p:cNvPr id="142" name="Text 21"/>
          <p:cNvSpPr txBox="1"/>
          <p:nvPr/>
        </p:nvSpPr>
        <p:spPr>
          <a:xfrm>
            <a:off x="1320877" y="6573917"/>
            <a:ext cx="12362143" cy="4723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latin typeface="Martel Sans Light"/>
                <a:ea typeface="Martel Sans Light"/>
                <a:cs typeface="Martel Sans Light"/>
                <a:sym typeface="Martel Sans Light"/>
              </a:defRPr>
            </a:lvl1pPr>
          </a:lstStyle>
          <a:p>
            <a:pPr/>
            <a:r>
              <a:t>The US caregiver population is projected to grow as 10,000 baby boomers turn 65 every single day. By 2030, all 73 million boomers will be 65+. No dominant platform has emerged to serve this demand surge.</a:t>
            </a:r>
          </a:p>
        </p:txBody>
      </p:sp>
      <p:sp>
        <p:nvSpPr>
          <p:cNvPr id="143" name="Text 22"/>
          <p:cNvSpPr txBox="1"/>
          <p:nvPr/>
        </p:nvSpPr>
        <p:spPr>
          <a:xfrm>
            <a:off x="781405" y="7426045"/>
            <a:ext cx="5933766"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Sources: AARP/NAC Caregiving in the US 2025 | AARP Valuing the Invaluable 2026 | US Census Bureau</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0"/>
          <p:cNvSpPr/>
          <p:nvPr/>
        </p:nvSpPr>
        <p:spPr>
          <a:xfrm>
            <a:off x="793790" y="857726"/>
            <a:ext cx="933333" cy="234555"/>
          </a:xfrm>
          <a:prstGeom prst="roundRect">
            <a:avLst>
              <a:gd name="adj" fmla="val 19902"/>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46" name="Text 1"/>
          <p:cNvSpPr txBox="1"/>
          <p:nvPr/>
        </p:nvSpPr>
        <p:spPr>
          <a:xfrm>
            <a:off x="877132" y="899398"/>
            <a:ext cx="740966" cy="1351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800">
                <a:solidFill>
                  <a:srgbClr val="383F5B"/>
                </a:solidFill>
                <a:latin typeface="Martel Sans Light"/>
                <a:ea typeface="Martel Sans Light"/>
                <a:cs typeface="Martel Sans Light"/>
                <a:sym typeface="Martel Sans Light"/>
              </a:defRPr>
            </a:lvl1pPr>
          </a:lstStyle>
          <a:p>
            <a:pPr/>
            <a:r>
              <a:t>THE PROBLEM</a:t>
            </a:r>
          </a:p>
        </p:txBody>
      </p:sp>
      <p:sp>
        <p:nvSpPr>
          <p:cNvPr id="147" name="Text 2"/>
          <p:cNvSpPr txBox="1"/>
          <p:nvPr/>
        </p:nvSpPr>
        <p:spPr>
          <a:xfrm>
            <a:off x="793789" y="1131094"/>
            <a:ext cx="4567512" cy="424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400"/>
              </a:lnSpc>
              <a:defRPr sz="2700">
                <a:solidFill>
                  <a:srgbClr val="272D45"/>
                </a:solidFill>
                <a:latin typeface="Martel Sans"/>
                <a:ea typeface="Martel Sans"/>
                <a:cs typeface="Martel Sans"/>
                <a:sym typeface="Martel Sans"/>
              </a:defRPr>
            </a:lvl1pPr>
          </a:lstStyle>
          <a:p>
            <a:pPr/>
            <a:r>
              <a:t>The Caregiver Collapse Cycle</a:t>
            </a:r>
          </a:p>
        </p:txBody>
      </p:sp>
      <p:sp>
        <p:nvSpPr>
          <p:cNvPr id="148" name="Text 3"/>
          <p:cNvSpPr txBox="1"/>
          <p:nvPr/>
        </p:nvSpPr>
        <p:spPr>
          <a:xfrm>
            <a:off x="793790" y="1711045"/>
            <a:ext cx="7556421"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000">
                <a:solidFill>
                  <a:srgbClr val="383F5B"/>
                </a:solidFill>
                <a:latin typeface="Martel Sans Light"/>
                <a:ea typeface="Martel Sans Light"/>
                <a:cs typeface="Martel Sans Light"/>
                <a:sym typeface="Martel Sans Light"/>
              </a:defRPr>
            </a:lvl1pPr>
          </a:lstStyle>
          <a:p>
            <a:pPr/>
            <a:r>
              <a:t>Caregiving is a 24/7 medical, logistical, and emotional operation — performed by untrained individuals under extreme and sustained stress.</a:t>
            </a:r>
          </a:p>
        </p:txBody>
      </p:sp>
      <p:sp>
        <p:nvSpPr>
          <p:cNvPr id="149" name="Shape 4"/>
          <p:cNvSpPr/>
          <p:nvPr/>
        </p:nvSpPr>
        <p:spPr>
          <a:xfrm>
            <a:off x="793790" y="2198251"/>
            <a:ext cx="7556421" cy="961432"/>
          </a:xfrm>
          <a:prstGeom prst="roundRect">
            <a:avLst>
              <a:gd name="adj" fmla="val 6069"/>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150" name="Shape 5"/>
          <p:cNvSpPr/>
          <p:nvPr/>
        </p:nvSpPr>
        <p:spPr>
          <a:xfrm>
            <a:off x="809029" y="2213491"/>
            <a:ext cx="555666" cy="930952"/>
          </a:xfrm>
          <a:prstGeom prst="roundRect">
            <a:avLst>
              <a:gd name="adj" fmla="val 7210"/>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51" name="Text 6"/>
          <p:cNvSpPr txBox="1"/>
          <p:nvPr/>
        </p:nvSpPr>
        <p:spPr>
          <a:xfrm>
            <a:off x="1019492" y="2574319"/>
            <a:ext cx="127001" cy="20929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1</a:t>
            </a:r>
          </a:p>
        </p:txBody>
      </p:sp>
      <p:sp>
        <p:nvSpPr>
          <p:cNvPr id="152" name="Text 7"/>
          <p:cNvSpPr txBox="1"/>
          <p:nvPr/>
        </p:nvSpPr>
        <p:spPr>
          <a:xfrm>
            <a:off x="1461849" y="2352318"/>
            <a:ext cx="1352526"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Physical Blockade</a:t>
            </a:r>
          </a:p>
        </p:txBody>
      </p:sp>
      <p:sp>
        <p:nvSpPr>
          <p:cNvPr id="153" name="Text 8"/>
          <p:cNvSpPr txBox="1"/>
          <p:nvPr/>
        </p:nvSpPr>
        <p:spPr>
          <a:xfrm>
            <a:off x="1461848" y="2627708"/>
            <a:ext cx="6734296" cy="3492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The hands-full reality. Caregivers cannot type during active care. Critical data goes unlogged. </a:t>
            </a:r>
            <a:r>
              <a:rPr b="1"/>
              <a:t>90%</a:t>
            </a:r>
            <a:r>
              <a:t> of medication errors reported to Poison Control Centers occur at home. Error rates hit 14–23%.</a:t>
            </a:r>
          </a:p>
        </p:txBody>
      </p:sp>
      <p:sp>
        <p:nvSpPr>
          <p:cNvPr id="154" name="Shape 9"/>
          <p:cNvSpPr/>
          <p:nvPr/>
        </p:nvSpPr>
        <p:spPr>
          <a:xfrm>
            <a:off x="793790" y="3256836"/>
            <a:ext cx="7556421" cy="961432"/>
          </a:xfrm>
          <a:prstGeom prst="roundRect">
            <a:avLst>
              <a:gd name="adj" fmla="val 6069"/>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155" name="Shape 10"/>
          <p:cNvSpPr/>
          <p:nvPr/>
        </p:nvSpPr>
        <p:spPr>
          <a:xfrm>
            <a:off x="809029" y="3272075"/>
            <a:ext cx="555666" cy="930952"/>
          </a:xfrm>
          <a:prstGeom prst="roundRect">
            <a:avLst>
              <a:gd name="adj" fmla="val 7210"/>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56" name="Text 11"/>
          <p:cNvSpPr txBox="1"/>
          <p:nvPr/>
        </p:nvSpPr>
        <p:spPr>
          <a:xfrm>
            <a:off x="1019492" y="3632904"/>
            <a:ext cx="127001" cy="20929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2</a:t>
            </a:r>
          </a:p>
        </p:txBody>
      </p:sp>
      <p:sp>
        <p:nvSpPr>
          <p:cNvPr id="157" name="Text 12"/>
          <p:cNvSpPr txBox="1"/>
          <p:nvPr/>
        </p:nvSpPr>
        <p:spPr>
          <a:xfrm>
            <a:off x="1461849" y="3410903"/>
            <a:ext cx="1517948"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The Knowledge Gap</a:t>
            </a:r>
          </a:p>
        </p:txBody>
      </p:sp>
      <p:sp>
        <p:nvSpPr>
          <p:cNvPr id="158" name="Text 13"/>
          <p:cNvSpPr txBox="1"/>
          <p:nvPr/>
        </p:nvSpPr>
        <p:spPr>
          <a:xfrm>
            <a:off x="1461848" y="3686292"/>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Information overload. Managing 5+ medications, contraindications, and shifting baselines from memory. </a:t>
            </a:r>
            <a:r>
              <a:rPr b="1"/>
              <a:t>78%</a:t>
            </a:r>
            <a:r>
              <a:t> manage complex medical tasks with zero clinical background. Only 22% receive training.</a:t>
            </a:r>
          </a:p>
        </p:txBody>
      </p:sp>
      <p:sp>
        <p:nvSpPr>
          <p:cNvPr id="159" name="Shape 14"/>
          <p:cNvSpPr/>
          <p:nvPr/>
        </p:nvSpPr>
        <p:spPr>
          <a:xfrm>
            <a:off x="793790" y="4315419"/>
            <a:ext cx="7556421" cy="961432"/>
          </a:xfrm>
          <a:prstGeom prst="roundRect">
            <a:avLst>
              <a:gd name="adj" fmla="val 6069"/>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160" name="Shape 15"/>
          <p:cNvSpPr/>
          <p:nvPr/>
        </p:nvSpPr>
        <p:spPr>
          <a:xfrm>
            <a:off x="809029" y="4330660"/>
            <a:ext cx="555666" cy="930952"/>
          </a:xfrm>
          <a:prstGeom prst="roundRect">
            <a:avLst>
              <a:gd name="adj" fmla="val 7210"/>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61" name="Text 16"/>
          <p:cNvSpPr txBox="1"/>
          <p:nvPr/>
        </p:nvSpPr>
        <p:spPr>
          <a:xfrm>
            <a:off x="1019492" y="4691488"/>
            <a:ext cx="127001" cy="20929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3</a:t>
            </a:r>
          </a:p>
        </p:txBody>
      </p:sp>
      <p:sp>
        <p:nvSpPr>
          <p:cNvPr id="162" name="Text 17"/>
          <p:cNvSpPr txBox="1"/>
          <p:nvPr/>
        </p:nvSpPr>
        <p:spPr>
          <a:xfrm>
            <a:off x="1461849" y="4469486"/>
            <a:ext cx="1012491"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Critical Errors</a:t>
            </a:r>
          </a:p>
        </p:txBody>
      </p:sp>
      <p:sp>
        <p:nvSpPr>
          <p:cNvPr id="163" name="Text 18"/>
          <p:cNvSpPr txBox="1"/>
          <p:nvPr/>
        </p:nvSpPr>
        <p:spPr>
          <a:xfrm>
            <a:off x="1461848" y="4744877"/>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Cascade failure. Medication errors cost the US healthcare system </a:t>
            </a:r>
            <a:r>
              <a:rPr b="1"/>
              <a:t>$300 billion annually.</a:t>
            </a:r>
            <a:r>
              <a:t> 1 in 131 non-hospital deaths are tied to these errors.</a:t>
            </a:r>
          </a:p>
        </p:txBody>
      </p:sp>
      <p:sp>
        <p:nvSpPr>
          <p:cNvPr id="164" name="Shape 19"/>
          <p:cNvSpPr/>
          <p:nvPr/>
        </p:nvSpPr>
        <p:spPr>
          <a:xfrm>
            <a:off x="793790" y="5374004"/>
            <a:ext cx="7556421" cy="961432"/>
          </a:xfrm>
          <a:prstGeom prst="roundRect">
            <a:avLst>
              <a:gd name="adj" fmla="val 6069"/>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165" name="Shape 20"/>
          <p:cNvSpPr/>
          <p:nvPr/>
        </p:nvSpPr>
        <p:spPr>
          <a:xfrm>
            <a:off x="809029" y="5389245"/>
            <a:ext cx="555666" cy="930952"/>
          </a:xfrm>
          <a:prstGeom prst="roundRect">
            <a:avLst>
              <a:gd name="adj" fmla="val 7210"/>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66" name="Text 21"/>
          <p:cNvSpPr txBox="1"/>
          <p:nvPr/>
        </p:nvSpPr>
        <p:spPr>
          <a:xfrm>
            <a:off x="1019492" y="5750073"/>
            <a:ext cx="127001" cy="20929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4</a:t>
            </a:r>
          </a:p>
        </p:txBody>
      </p:sp>
      <p:sp>
        <p:nvSpPr>
          <p:cNvPr id="167" name="Text 22"/>
          <p:cNvSpPr txBox="1"/>
          <p:nvPr/>
        </p:nvSpPr>
        <p:spPr>
          <a:xfrm>
            <a:off x="1461849" y="5528071"/>
            <a:ext cx="1352526"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Caregiver Burnout</a:t>
            </a:r>
          </a:p>
        </p:txBody>
      </p:sp>
      <p:sp>
        <p:nvSpPr>
          <p:cNvPr id="168" name="Text 23"/>
          <p:cNvSpPr txBox="1"/>
          <p:nvPr/>
        </p:nvSpPr>
        <p:spPr>
          <a:xfrm>
            <a:off x="1461848" y="5803462"/>
            <a:ext cx="6734296" cy="3492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b="1" sz="1000">
                <a:solidFill>
                  <a:srgbClr val="383F5B"/>
                </a:solidFill>
                <a:latin typeface="Martel Sans Light"/>
                <a:ea typeface="Martel Sans Light"/>
                <a:cs typeface="Martel Sans Light"/>
                <a:sym typeface="Martel Sans Light"/>
              </a:defRPr>
            </a:pPr>
            <a:r>
              <a:t>87%</a:t>
            </a:r>
            <a:r>
              <a:rPr b="0"/>
              <a:t> report significant stress. </a:t>
            </a:r>
            <a:r>
              <a:t>78%</a:t>
            </a:r>
            <a:r>
              <a:rPr b="0"/>
              <a:t> experience burnout. </a:t>
            </a:r>
            <a:r>
              <a:t>36%</a:t>
            </a:r>
            <a:r>
              <a:rPr b="0"/>
              <a:t> experience clinical depression. ER utilization rises </a:t>
            </a:r>
            <a:r>
              <a:t>73%</a:t>
            </a:r>
            <a:r>
              <a:rPr b="0"/>
              <a:t> when caregivers burn out.</a:t>
            </a:r>
          </a:p>
        </p:txBody>
      </p:sp>
      <p:sp>
        <p:nvSpPr>
          <p:cNvPr id="169" name="Shape 24"/>
          <p:cNvSpPr/>
          <p:nvPr/>
        </p:nvSpPr>
        <p:spPr>
          <a:xfrm>
            <a:off x="793790" y="6444734"/>
            <a:ext cx="7556421" cy="666633"/>
          </a:xfrm>
          <a:prstGeom prst="roundRect">
            <a:avLst>
              <a:gd name="adj" fmla="val 8753"/>
            </a:avLst>
          </a:prstGeom>
          <a:solidFill>
            <a:srgbClr val="C8DAEA"/>
          </a:solidFill>
          <a:ln w="12700">
            <a:miter lim="400000"/>
          </a:ln>
        </p:spPr>
        <p:txBody>
          <a:bodyPr lIns="45718" tIns="45718" rIns="45718" bIns="45718"/>
          <a:lstStyle/>
          <a:p>
            <a:pPr>
              <a:defRPr>
                <a:latin typeface="+mj-lt"/>
                <a:ea typeface="+mj-ea"/>
                <a:cs typeface="+mj-cs"/>
                <a:sym typeface="Calibri"/>
              </a:defRPr>
            </a:pPr>
          </a:p>
        </p:txBody>
      </p:sp>
      <p:pic>
        <p:nvPicPr>
          <p:cNvPr id="170" name="Image 1" descr="Image 1"/>
          <p:cNvPicPr>
            <a:picLocks noChangeAspect="1"/>
          </p:cNvPicPr>
          <p:nvPr/>
        </p:nvPicPr>
        <p:blipFill>
          <a:blip r:embed="rId2">
            <a:extLst/>
          </a:blip>
          <a:stretch>
            <a:fillRect/>
          </a:stretch>
        </p:blipFill>
        <p:spPr>
          <a:xfrm>
            <a:off x="932617" y="6618565"/>
            <a:ext cx="173595" cy="138828"/>
          </a:xfrm>
          <a:prstGeom prst="rect">
            <a:avLst/>
          </a:prstGeom>
          <a:ln w="12700">
            <a:miter lim="400000"/>
          </a:ln>
        </p:spPr>
      </p:pic>
      <p:sp>
        <p:nvSpPr>
          <p:cNvPr id="171" name="Text 25"/>
          <p:cNvSpPr txBox="1"/>
          <p:nvPr/>
        </p:nvSpPr>
        <p:spPr>
          <a:xfrm>
            <a:off x="1245037" y="6576535"/>
            <a:ext cx="6966347" cy="3492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000">
                <a:latin typeface="Martel Sans Light"/>
                <a:ea typeface="Martel Sans Light"/>
                <a:cs typeface="Martel Sans Light"/>
                <a:sym typeface="Martel Sans Light"/>
              </a:defRPr>
            </a:lvl1pPr>
          </a:lstStyle>
          <a:p>
            <a:pPr/>
            <a:r>
              <a:t>"Mobile screens are fundamentally incompatible with active caregiving. The solution must be voice-first — and medically intelligent."</a:t>
            </a:r>
          </a:p>
        </p:txBody>
      </p:sp>
      <p:sp>
        <p:nvSpPr>
          <p:cNvPr id="172" name="Text 26"/>
          <p:cNvSpPr txBox="1"/>
          <p:nvPr/>
        </p:nvSpPr>
        <p:spPr>
          <a:xfrm>
            <a:off x="793790" y="7220663"/>
            <a:ext cx="5600949" cy="1351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800">
                <a:solidFill>
                  <a:srgbClr val="383F5B"/>
                </a:solidFill>
                <a:latin typeface="Martel Sans Light"/>
                <a:ea typeface="Martel Sans Light"/>
                <a:cs typeface="Martel Sans Light"/>
                <a:sym typeface="Martel Sans Light"/>
              </a:defRPr>
            </a:lvl1pPr>
          </a:lstStyle>
          <a:p>
            <a:pPr/>
            <a:r>
              <a:t>Sources: NCBI/StatPearls | AARP/NAC 2025 | AMCP | A Place for Mom 2026 | ianacare 2024 | Alzheimer's Association 2024</a:t>
            </a:r>
          </a:p>
        </p:txBody>
      </p:sp>
      <p:pic>
        <p:nvPicPr>
          <p:cNvPr id="173" name="pasted-movie.png" descr="pasted-movie.png"/>
          <p:cNvPicPr>
            <a:picLocks noChangeAspect="1"/>
          </p:cNvPicPr>
          <p:nvPr/>
        </p:nvPicPr>
        <p:blipFill>
          <a:blip r:embed="rId3">
            <a:extLst/>
          </a:blip>
          <a:stretch>
            <a:fillRect/>
          </a:stretch>
        </p:blipFill>
        <p:spPr>
          <a:xfrm>
            <a:off x="9163612" y="0"/>
            <a:ext cx="5481043" cy="82296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5" name="Picture 201" descr="Picture 201"/>
          <p:cNvPicPr>
            <a:picLocks noChangeAspect="1"/>
          </p:cNvPicPr>
          <p:nvPr/>
        </p:nvPicPr>
        <p:blipFill>
          <a:blip r:embed="rId2">
            <a:extLst/>
          </a:blip>
          <a:stretch>
            <a:fillRect/>
          </a:stretch>
        </p:blipFill>
        <p:spPr>
          <a:xfrm>
            <a:off x="9144000" y="0"/>
            <a:ext cx="5486400" cy="8229600"/>
          </a:xfrm>
          <a:prstGeom prst="rect">
            <a:avLst/>
          </a:prstGeom>
          <a:ln w="12700">
            <a:miter lim="400000"/>
          </a:ln>
        </p:spPr>
      </p:pic>
      <p:sp>
        <p:nvSpPr>
          <p:cNvPr id="176" name="Shape 0"/>
          <p:cNvSpPr/>
          <p:nvPr/>
        </p:nvSpPr>
        <p:spPr>
          <a:xfrm>
            <a:off x="793790" y="545783"/>
            <a:ext cx="1473638" cy="324328"/>
          </a:xfrm>
          <a:prstGeom prst="roundRect">
            <a:avLst>
              <a:gd name="adj" fmla="val 1850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77" name="Text 1"/>
          <p:cNvSpPr txBox="1"/>
          <p:nvPr/>
        </p:nvSpPr>
        <p:spPr>
          <a:xfrm>
            <a:off x="900944" y="599359"/>
            <a:ext cx="1210656" cy="2048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100">
                <a:solidFill>
                  <a:srgbClr val="383F5B"/>
                </a:solidFill>
                <a:latin typeface="Martel Sans Light"/>
                <a:ea typeface="Martel Sans Light"/>
                <a:cs typeface="Martel Sans Light"/>
                <a:sym typeface="Martel Sans Light"/>
              </a:defRPr>
            </a:lvl1pPr>
          </a:lstStyle>
          <a:p>
            <a:pPr/>
            <a:r>
              <a:t>OUR INNOVATION</a:t>
            </a:r>
          </a:p>
        </p:txBody>
      </p:sp>
      <p:sp>
        <p:nvSpPr>
          <p:cNvPr id="178" name="Text 2"/>
          <p:cNvSpPr txBox="1"/>
          <p:nvPr/>
        </p:nvSpPr>
        <p:spPr>
          <a:xfrm>
            <a:off x="793790" y="934425"/>
            <a:ext cx="11394114" cy="53910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500">
                <a:solidFill>
                  <a:srgbClr val="272D45"/>
                </a:solidFill>
                <a:latin typeface="Martel Sans"/>
                <a:ea typeface="Martel Sans"/>
                <a:cs typeface="Martel Sans"/>
                <a:sym typeface="Martel Sans"/>
              </a:defRPr>
            </a:lvl1pPr>
          </a:lstStyle>
          <a:p>
            <a:pPr/>
            <a:r>
              <a:t>AuraGuide: The Zero-Friction Medical Intelligence Partner</a:t>
            </a:r>
          </a:p>
        </p:txBody>
      </p:sp>
      <p:sp>
        <p:nvSpPr>
          <p:cNvPr id="179" name="Text 3"/>
          <p:cNvSpPr txBox="1"/>
          <p:nvPr/>
        </p:nvSpPr>
        <p:spPr>
          <a:xfrm>
            <a:off x="793790" y="1536191"/>
            <a:ext cx="7552943" cy="10543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An AI assistant that does not just log data — it understands clinical context, fills the medical knowledge gap, and becomes the intelligence layer caregivers were never given. Speak naturally while hands are on the patient. AuraGuide listens, interprets clinical context, and responds with the right information at exactly the right moment.</a:t>
            </a:r>
          </a:p>
        </p:txBody>
      </p:sp>
      <p:sp>
        <p:nvSpPr>
          <p:cNvPr id="180" name="Shape 4"/>
          <p:cNvSpPr/>
          <p:nvPr/>
        </p:nvSpPr>
        <p:spPr>
          <a:xfrm>
            <a:off x="793789" y="2712591"/>
            <a:ext cx="3657601" cy="1920241"/>
          </a:xfrm>
          <a:prstGeom prst="roundRect">
            <a:avLst>
              <a:gd name="adj" fmla="val 2443"/>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81" name="Text 6"/>
          <p:cNvSpPr txBox="1"/>
          <p:nvPr/>
        </p:nvSpPr>
        <p:spPr>
          <a:xfrm>
            <a:off x="976669" y="2791246"/>
            <a:ext cx="3291841" cy="2630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Voice-First Medical Intelligence</a:t>
            </a:r>
          </a:p>
        </p:txBody>
      </p:sp>
      <p:sp>
        <p:nvSpPr>
          <p:cNvPr id="182" name="Text 7"/>
          <p:cNvSpPr txBox="1"/>
          <p:nvPr/>
        </p:nvSpPr>
        <p:spPr>
          <a:xfrm>
            <a:off x="976669" y="3157006"/>
            <a:ext cx="3291841" cy="1321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Tracks schedules, checks real-time drug interactions, confirms dosages, proactively flags dangerous combinations. Holds full clinical context so caregivers stop memorizing.</a:t>
            </a:r>
          </a:p>
        </p:txBody>
      </p:sp>
      <p:sp>
        <p:nvSpPr>
          <p:cNvPr id="183" name="Shape 8"/>
          <p:cNvSpPr/>
          <p:nvPr/>
        </p:nvSpPr>
        <p:spPr>
          <a:xfrm>
            <a:off x="4689133" y="2712591"/>
            <a:ext cx="3657601" cy="1920241"/>
          </a:xfrm>
          <a:prstGeom prst="roundRect">
            <a:avLst>
              <a:gd name="adj" fmla="val 2443"/>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84" name="Text 10"/>
          <p:cNvSpPr txBox="1"/>
          <p:nvPr/>
        </p:nvSpPr>
        <p:spPr>
          <a:xfrm>
            <a:off x="4872013" y="2834551"/>
            <a:ext cx="3291841" cy="2630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Real-Time Crisis Intelligence</a:t>
            </a:r>
          </a:p>
        </p:txBody>
      </p:sp>
      <p:sp>
        <p:nvSpPr>
          <p:cNvPr id="185" name="Text 11"/>
          <p:cNvSpPr txBox="1"/>
          <p:nvPr/>
        </p:nvSpPr>
        <p:spPr>
          <a:xfrm>
            <a:off x="4872013" y="3200311"/>
            <a:ext cx="3291841" cy="1321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Recognizes symptom patterns against clinical protocols. Locates nearest urgent care with wait times. Auto-generates medication and vitals summary for ER visits. All by voice.</a:t>
            </a:r>
          </a:p>
        </p:txBody>
      </p:sp>
      <p:sp>
        <p:nvSpPr>
          <p:cNvPr id="186" name="Shape 12"/>
          <p:cNvSpPr/>
          <p:nvPr/>
        </p:nvSpPr>
        <p:spPr>
          <a:xfrm>
            <a:off x="793789" y="4815711"/>
            <a:ext cx="3657601" cy="1920241"/>
          </a:xfrm>
          <a:prstGeom prst="roundRect">
            <a:avLst>
              <a:gd name="adj" fmla="val 2443"/>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87" name="Text 14"/>
          <p:cNvSpPr txBox="1"/>
          <p:nvPr/>
        </p:nvSpPr>
        <p:spPr>
          <a:xfrm>
            <a:off x="976669" y="5011248"/>
            <a:ext cx="3291841" cy="2630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Passive Wellbeing Monitoring</a:t>
            </a:r>
          </a:p>
        </p:txBody>
      </p:sp>
      <p:sp>
        <p:nvSpPr>
          <p:cNvPr id="188" name="Text 15"/>
          <p:cNvSpPr txBox="1"/>
          <p:nvPr/>
        </p:nvSpPr>
        <p:spPr>
          <a:xfrm>
            <a:off x="976669" y="5377008"/>
            <a:ext cx="3291841" cy="10543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Voice-tone analysis detects early burnout. Triggers guided breathing and respite care resources. Protecting the caregiver IS protecting the patient.</a:t>
            </a:r>
          </a:p>
        </p:txBody>
      </p:sp>
      <p:sp>
        <p:nvSpPr>
          <p:cNvPr id="189" name="Shape 16"/>
          <p:cNvSpPr/>
          <p:nvPr/>
        </p:nvSpPr>
        <p:spPr>
          <a:xfrm>
            <a:off x="4689133" y="4815711"/>
            <a:ext cx="3657601" cy="1920241"/>
          </a:xfrm>
          <a:prstGeom prst="roundRect">
            <a:avLst>
              <a:gd name="adj" fmla="val 2443"/>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190" name="Text 18"/>
          <p:cNvSpPr txBox="1"/>
          <p:nvPr/>
        </p:nvSpPr>
        <p:spPr>
          <a:xfrm>
            <a:off x="4872012" y="5011248"/>
            <a:ext cx="2215662" cy="2630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40+ Language Support</a:t>
            </a:r>
          </a:p>
        </p:txBody>
      </p:sp>
      <p:sp>
        <p:nvSpPr>
          <p:cNvPr id="191" name="Text 19"/>
          <p:cNvSpPr txBox="1"/>
          <p:nvPr/>
        </p:nvSpPr>
        <p:spPr>
          <a:xfrm>
            <a:off x="4872012" y="5377008"/>
            <a:ext cx="3291842" cy="10543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Operates fully in the caregiver's native language including clinical vocabulary. Eliminates dangerous translation friction in multilingual households.</a:t>
            </a:r>
          </a:p>
        </p:txBody>
      </p:sp>
      <p:sp>
        <p:nvSpPr>
          <p:cNvPr id="192" name="Shape 20"/>
          <p:cNvSpPr/>
          <p:nvPr/>
        </p:nvSpPr>
        <p:spPr>
          <a:xfrm>
            <a:off x="793790" y="6858000"/>
            <a:ext cx="7552943" cy="822960"/>
          </a:xfrm>
          <a:prstGeom prst="roundRect">
            <a:avLst>
              <a:gd name="adj" fmla="val 9335"/>
            </a:avLst>
          </a:prstGeom>
          <a:solidFill>
            <a:srgbClr val="B6D6FC"/>
          </a:solidFill>
          <a:ln w="12700">
            <a:miter lim="400000"/>
          </a:ln>
        </p:spPr>
        <p:txBody>
          <a:bodyPr lIns="45718" tIns="45718" rIns="45718" bIns="45718"/>
          <a:lstStyle/>
          <a:p>
            <a:pPr>
              <a:defRPr>
                <a:latin typeface="+mj-lt"/>
                <a:ea typeface="+mj-ea"/>
                <a:cs typeface="+mj-cs"/>
                <a:sym typeface="Calibri"/>
              </a:defRPr>
            </a:pPr>
          </a:p>
        </p:txBody>
      </p:sp>
      <p:pic>
        <p:nvPicPr>
          <p:cNvPr id="193" name="Image 4" descr="Image 4"/>
          <p:cNvPicPr>
            <a:picLocks noChangeAspect="1"/>
          </p:cNvPicPr>
          <p:nvPr/>
        </p:nvPicPr>
        <p:blipFill>
          <a:blip r:embed="rId3">
            <a:extLst/>
          </a:blip>
          <a:stretch>
            <a:fillRect/>
          </a:stretch>
        </p:blipFill>
        <p:spPr>
          <a:xfrm>
            <a:off x="972372" y="6903719"/>
            <a:ext cx="223206" cy="178583"/>
          </a:xfrm>
          <a:prstGeom prst="rect">
            <a:avLst/>
          </a:prstGeom>
          <a:ln w="12700">
            <a:miter lim="400000"/>
          </a:ln>
        </p:spPr>
      </p:pic>
      <p:sp>
        <p:nvSpPr>
          <p:cNvPr id="194" name="Text 21"/>
          <p:cNvSpPr txBox="1"/>
          <p:nvPr/>
        </p:nvSpPr>
        <p:spPr>
          <a:xfrm>
            <a:off x="1325880" y="6857999"/>
            <a:ext cx="6766560" cy="7876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latin typeface="Martel Sans Light"/>
                <a:ea typeface="Martel Sans Light"/>
                <a:cs typeface="Martel Sans Light"/>
                <a:sym typeface="Martel Sans Light"/>
              </a:defRPr>
            </a:lvl1pPr>
          </a:lstStyle>
          <a:p>
            <a:pPr/>
            <a:r>
              <a:t>AuraGuide is not a scheduling app with voice features added on. It is a medical intelligence layer — built on clinical protocols, drug interaction databases, and caregiver-specific workflow patterns.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0"/>
          <p:cNvSpPr/>
          <p:nvPr/>
        </p:nvSpPr>
        <p:spPr>
          <a:xfrm>
            <a:off x="793790" y="545805"/>
            <a:ext cx="858714" cy="188916"/>
          </a:xfrm>
          <a:prstGeom prst="roundRect">
            <a:avLst>
              <a:gd name="adj" fmla="val 20790"/>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197" name="Text 1"/>
          <p:cNvSpPr txBox="1"/>
          <p:nvPr/>
        </p:nvSpPr>
        <p:spPr>
          <a:xfrm>
            <a:off x="900957" y="599388"/>
            <a:ext cx="692648"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Martel Sans Light"/>
                <a:ea typeface="Martel Sans Light"/>
                <a:cs typeface="Martel Sans Light"/>
                <a:sym typeface="Martel Sans Light"/>
              </a:defRPr>
            </a:lvl1pPr>
          </a:lstStyle>
          <a:p>
            <a:pPr/>
            <a:r>
              <a:t>HOW IT WORKS</a:t>
            </a:r>
          </a:p>
        </p:txBody>
      </p:sp>
      <p:sp>
        <p:nvSpPr>
          <p:cNvPr id="198" name="Text 2"/>
          <p:cNvSpPr txBox="1"/>
          <p:nvPr/>
        </p:nvSpPr>
        <p:spPr>
          <a:xfrm>
            <a:off x="793790" y="934425"/>
            <a:ext cx="4931619" cy="35165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800"/>
              </a:lnSpc>
              <a:defRPr sz="2300">
                <a:solidFill>
                  <a:srgbClr val="272D45"/>
                </a:solidFill>
                <a:latin typeface="Martel Sans"/>
                <a:ea typeface="Martel Sans"/>
                <a:cs typeface="Martel Sans"/>
                <a:sym typeface="Martel Sans"/>
              </a:defRPr>
            </a:lvl1pPr>
          </a:lstStyle>
          <a:p>
            <a:pPr/>
            <a:r>
              <a:t>The Operating System for Home Care</a:t>
            </a:r>
          </a:p>
        </p:txBody>
      </p:sp>
      <p:sp>
        <p:nvSpPr>
          <p:cNvPr id="199" name="Shape 9"/>
          <p:cNvSpPr/>
          <p:nvPr/>
        </p:nvSpPr>
        <p:spPr>
          <a:xfrm>
            <a:off x="793790" y="1289303"/>
            <a:ext cx="7552943" cy="12711"/>
          </a:xfrm>
          <a:prstGeom prst="rect">
            <a:avLst/>
          </a:prstGeom>
          <a:solidFill>
            <a:srgbClr val="383F5B">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200" name="Text 10"/>
          <p:cNvSpPr txBox="1"/>
          <p:nvPr/>
        </p:nvSpPr>
        <p:spPr>
          <a:xfrm>
            <a:off x="793790" y="1435608"/>
            <a:ext cx="4176614" cy="28625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272D45"/>
                </a:solidFill>
                <a:latin typeface="Martel Sans"/>
                <a:ea typeface="Martel Sans"/>
                <a:cs typeface="Martel Sans"/>
                <a:sym typeface="Martel Sans"/>
              </a:defRPr>
            </a:lvl1pPr>
          </a:lstStyle>
          <a:p>
            <a:pPr/>
            <a:r>
              <a:t>Conversations That Save Time and Lives</a:t>
            </a:r>
          </a:p>
        </p:txBody>
      </p:sp>
      <p:sp>
        <p:nvSpPr>
          <p:cNvPr id="201" name="Shape 11"/>
          <p:cNvSpPr/>
          <p:nvPr/>
        </p:nvSpPr>
        <p:spPr>
          <a:xfrm>
            <a:off x="809060" y="2240279"/>
            <a:ext cx="3642331" cy="1920241"/>
          </a:xfrm>
          <a:prstGeom prst="roundRect">
            <a:avLst>
              <a:gd name="adj" fmla="val 4770"/>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02" name="Shape 12"/>
          <p:cNvSpPr/>
          <p:nvPr/>
        </p:nvSpPr>
        <p:spPr>
          <a:xfrm>
            <a:off x="793790" y="2240279"/>
            <a:ext cx="60991" cy="1920241"/>
          </a:xfrm>
          <a:prstGeom prst="roundRect">
            <a:avLst>
              <a:gd name="adj" fmla="val 50000"/>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sp>
        <p:nvSpPr>
          <p:cNvPr id="203" name="Text 13"/>
          <p:cNvSpPr txBox="1"/>
          <p:nvPr/>
        </p:nvSpPr>
        <p:spPr>
          <a:xfrm>
            <a:off x="976669" y="2377439"/>
            <a:ext cx="2362884" cy="2416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latin typeface="+mj-lt"/>
                <a:ea typeface="+mj-ea"/>
                <a:cs typeface="+mj-cs"/>
                <a:sym typeface="Calibri"/>
              </a:defRPr>
            </a:lvl1pPr>
          </a:lstStyle>
          <a:p>
            <a:pPr/>
            <a:r>
              <a:t>Medication Management</a:t>
            </a:r>
          </a:p>
        </p:txBody>
      </p:sp>
      <p:sp>
        <p:nvSpPr>
          <p:cNvPr id="204" name="Text 14"/>
          <p:cNvSpPr txBox="1"/>
          <p:nvPr/>
        </p:nvSpPr>
        <p:spPr>
          <a:xfrm>
            <a:off x="976669" y="2697479"/>
            <a:ext cx="3291842" cy="1124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1200">
                <a:solidFill>
                  <a:srgbClr val="383F5B"/>
                </a:solidFill>
                <a:latin typeface="Martel Sans Light"/>
                <a:ea typeface="Martel Sans Light"/>
                <a:cs typeface="Martel Sans Light"/>
                <a:sym typeface="Martel Sans Light"/>
              </a:defRPr>
            </a:pPr>
            <a:r>
              <a:t>Caregiver: "AuraGuide, what medication is next?”</a:t>
            </a:r>
          </a:p>
          <a:p>
            <a:pPr>
              <a:lnSpc>
                <a:spcPts val="1100"/>
              </a:lnSpc>
              <a:defRPr i="1" sz="1200">
                <a:solidFill>
                  <a:srgbClr val="383F5B"/>
                </a:solidFill>
                <a:latin typeface="Martel Sans Light"/>
                <a:ea typeface="Martel Sans Light"/>
                <a:cs typeface="Martel Sans Light"/>
                <a:sym typeface="Martel Sans Light"/>
              </a:defRPr>
            </a:pPr>
          </a:p>
          <a:p>
            <a:pPr>
              <a:lnSpc>
                <a:spcPts val="1100"/>
              </a:lnSpc>
              <a:defRPr i="1" sz="1200">
                <a:solidFill>
                  <a:srgbClr val="383F5B"/>
                </a:solidFill>
                <a:latin typeface="Martel Sans Light"/>
                <a:ea typeface="Martel Sans Light"/>
                <a:cs typeface="Martel Sans Light"/>
                <a:sym typeface="Martel Sans Light"/>
              </a:defRPr>
            </a:pPr>
            <a:r>
              <a:rPr b="1" i="0"/>
              <a:t>AuraGuide:</a:t>
            </a:r>
            <a:r>
              <a:rPr i="0"/>
              <a:t> "Robert's Metformin 500mg is due at 2:00 PM. He took his morning Lisinopril at 8:15 AM. Metformin should be taken with food. Flagging: his Lisinopril dose is due for review at Thursday's appointment."</a:t>
            </a:r>
          </a:p>
        </p:txBody>
      </p:sp>
      <p:sp>
        <p:nvSpPr>
          <p:cNvPr id="205" name="Shape 15"/>
          <p:cNvSpPr/>
          <p:nvPr/>
        </p:nvSpPr>
        <p:spPr>
          <a:xfrm>
            <a:off x="809060" y="4434840"/>
            <a:ext cx="3642331" cy="1920241"/>
          </a:xfrm>
          <a:prstGeom prst="roundRect">
            <a:avLst>
              <a:gd name="adj" fmla="val 4984"/>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06" name="Shape 16"/>
          <p:cNvSpPr/>
          <p:nvPr/>
        </p:nvSpPr>
        <p:spPr>
          <a:xfrm>
            <a:off x="793790" y="4434840"/>
            <a:ext cx="60991" cy="1920241"/>
          </a:xfrm>
          <a:prstGeom prst="roundRect">
            <a:avLst>
              <a:gd name="adj" fmla="val 50000"/>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sp>
        <p:nvSpPr>
          <p:cNvPr id="207" name="Text 17"/>
          <p:cNvSpPr txBox="1"/>
          <p:nvPr/>
        </p:nvSpPr>
        <p:spPr>
          <a:xfrm>
            <a:off x="976669" y="4571999"/>
            <a:ext cx="1334184" cy="2416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latin typeface="+mj-lt"/>
                <a:ea typeface="+mj-ea"/>
                <a:cs typeface="+mj-cs"/>
                <a:sym typeface="Calibri"/>
              </a:defRPr>
            </a:lvl1pPr>
          </a:lstStyle>
          <a:p>
            <a:pPr/>
            <a:r>
              <a:t>Vitals Tracking</a:t>
            </a:r>
          </a:p>
        </p:txBody>
      </p:sp>
      <p:sp>
        <p:nvSpPr>
          <p:cNvPr id="208" name="Text 18"/>
          <p:cNvSpPr txBox="1"/>
          <p:nvPr/>
        </p:nvSpPr>
        <p:spPr>
          <a:xfrm>
            <a:off x="976669" y="4892040"/>
            <a:ext cx="3291842" cy="9850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1200">
                <a:solidFill>
                  <a:srgbClr val="383F5B"/>
                </a:solidFill>
                <a:latin typeface="Martel Sans Light"/>
                <a:ea typeface="Martel Sans Light"/>
                <a:cs typeface="Martel Sans Light"/>
                <a:sym typeface="Martel Sans Light"/>
              </a:defRPr>
            </a:pPr>
            <a:r>
              <a:t>Caregiver: "Log blood pressure 140 over 90 for Robert.</a:t>
            </a:r>
          </a:p>
          <a:p>
            <a:pPr>
              <a:lnSpc>
                <a:spcPts val="1100"/>
              </a:lnSpc>
              <a:defRPr i="1" sz="1200">
                <a:solidFill>
                  <a:srgbClr val="383F5B"/>
                </a:solidFill>
                <a:latin typeface="Martel Sans Light"/>
                <a:ea typeface="Martel Sans Light"/>
                <a:cs typeface="Martel Sans Light"/>
                <a:sym typeface="Martel Sans Light"/>
              </a:defRPr>
            </a:pPr>
          </a:p>
          <a:p>
            <a:pPr>
              <a:lnSpc>
                <a:spcPts val="1100"/>
              </a:lnSpc>
              <a:defRPr i="1" sz="1200">
                <a:solidFill>
                  <a:srgbClr val="383F5B"/>
                </a:solidFill>
                <a:latin typeface="Martel Sans Light"/>
                <a:ea typeface="Martel Sans Light"/>
                <a:cs typeface="Martel Sans Light"/>
                <a:sym typeface="Martel Sans Light"/>
              </a:defRPr>
            </a:pPr>
            <a:r>
              <a:t>"</a:t>
            </a:r>
            <a:r>
              <a:rPr b="1" i="0"/>
              <a:t>AuraGuide:</a:t>
            </a:r>
            <a:r>
              <a:rPr i="0"/>
              <a:t> "Logged. That reading is elevated Robert's 30-day baseline is 122/80. I've flagged this for Thursday's 3 PM appointment. If it reaches 160/100, I'll alert you immediately."</a:t>
            </a:r>
          </a:p>
        </p:txBody>
      </p:sp>
      <p:sp>
        <p:nvSpPr>
          <p:cNvPr id="209" name="Shape 19"/>
          <p:cNvSpPr/>
          <p:nvPr/>
        </p:nvSpPr>
        <p:spPr>
          <a:xfrm>
            <a:off x="4704403" y="2240279"/>
            <a:ext cx="3642331" cy="1920241"/>
          </a:xfrm>
          <a:prstGeom prst="roundRect">
            <a:avLst>
              <a:gd name="adj" fmla="val 4657"/>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10" name="Shape 20"/>
          <p:cNvSpPr/>
          <p:nvPr/>
        </p:nvSpPr>
        <p:spPr>
          <a:xfrm>
            <a:off x="4689133" y="2240279"/>
            <a:ext cx="60991" cy="1920241"/>
          </a:xfrm>
          <a:prstGeom prst="roundRect">
            <a:avLst>
              <a:gd name="adj" fmla="val 50000"/>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sp>
        <p:nvSpPr>
          <p:cNvPr id="211" name="Text 21"/>
          <p:cNvSpPr txBox="1"/>
          <p:nvPr/>
        </p:nvSpPr>
        <p:spPr>
          <a:xfrm>
            <a:off x="4872013" y="2377439"/>
            <a:ext cx="1123443" cy="2416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latin typeface="+mj-lt"/>
                <a:ea typeface="+mj-ea"/>
                <a:cs typeface="+mj-cs"/>
                <a:sym typeface="Calibri"/>
              </a:defRPr>
            </a:lvl1pPr>
          </a:lstStyle>
          <a:p>
            <a:pPr/>
            <a:r>
              <a:t>Urgent Care</a:t>
            </a:r>
          </a:p>
        </p:txBody>
      </p:sp>
      <p:sp>
        <p:nvSpPr>
          <p:cNvPr id="212" name="Text 22"/>
          <p:cNvSpPr txBox="1"/>
          <p:nvPr/>
        </p:nvSpPr>
        <p:spPr>
          <a:xfrm>
            <a:off x="4872013" y="2697479"/>
            <a:ext cx="3291841" cy="1124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1200">
                <a:solidFill>
                  <a:srgbClr val="383F5B"/>
                </a:solidFill>
                <a:latin typeface="Martel Sans Light"/>
                <a:ea typeface="Martel Sans Light"/>
                <a:cs typeface="Martel Sans Light"/>
                <a:sym typeface="Martel Sans Light"/>
              </a:defRPr>
            </a:pPr>
            <a:r>
              <a:t>Caregiver: "He has a fever of 101 and seems confused.”</a:t>
            </a:r>
          </a:p>
          <a:p>
            <a:pPr>
              <a:lnSpc>
                <a:spcPts val="1100"/>
              </a:lnSpc>
              <a:defRPr i="1" sz="1200">
                <a:solidFill>
                  <a:srgbClr val="383F5B"/>
                </a:solidFill>
                <a:latin typeface="Martel Sans Light"/>
                <a:ea typeface="Martel Sans Light"/>
                <a:cs typeface="Martel Sans Light"/>
                <a:sym typeface="Martel Sans Light"/>
              </a:defRPr>
            </a:pPr>
          </a:p>
          <a:p>
            <a:pPr>
              <a:lnSpc>
                <a:spcPts val="1100"/>
              </a:lnSpc>
              <a:defRPr i="1" sz="1200">
                <a:solidFill>
                  <a:srgbClr val="383F5B"/>
                </a:solidFill>
                <a:latin typeface="Martel Sans Light"/>
                <a:ea typeface="Martel Sans Light"/>
                <a:cs typeface="Martel Sans Light"/>
                <a:sym typeface="Martel Sans Light"/>
              </a:defRPr>
            </a:pPr>
            <a:r>
              <a:rPr b="1" i="0"/>
              <a:t>AuraGuide:</a:t>
            </a:r>
            <a:r>
              <a:rPr i="0"/>
              <a:t> "Sudden confusion with fever can indicate a UTI or early sepsis. I've located 3 urgent care clinics nearby; the closest has a 12-minute wait. Shall I prepare his complete medication list and symptom timeline?"</a:t>
            </a:r>
          </a:p>
        </p:txBody>
      </p:sp>
      <p:sp>
        <p:nvSpPr>
          <p:cNvPr id="213" name="Shape 23"/>
          <p:cNvSpPr/>
          <p:nvPr/>
        </p:nvSpPr>
        <p:spPr>
          <a:xfrm>
            <a:off x="4704403" y="4434840"/>
            <a:ext cx="3642331" cy="1920241"/>
          </a:xfrm>
          <a:prstGeom prst="roundRect">
            <a:avLst>
              <a:gd name="adj" fmla="val 4657"/>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14" name="Shape 24"/>
          <p:cNvSpPr/>
          <p:nvPr/>
        </p:nvSpPr>
        <p:spPr>
          <a:xfrm>
            <a:off x="4689133" y="4434840"/>
            <a:ext cx="60991" cy="1920241"/>
          </a:xfrm>
          <a:prstGeom prst="roundRect">
            <a:avLst>
              <a:gd name="adj" fmla="val 50000"/>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sp>
        <p:nvSpPr>
          <p:cNvPr id="215" name="Text 25"/>
          <p:cNvSpPr txBox="1"/>
          <p:nvPr/>
        </p:nvSpPr>
        <p:spPr>
          <a:xfrm>
            <a:off x="4872013" y="4571999"/>
            <a:ext cx="1868402" cy="2416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a:latin typeface="+mj-lt"/>
                <a:ea typeface="+mj-ea"/>
                <a:cs typeface="+mj-cs"/>
                <a:sym typeface="Calibri"/>
              </a:defRPr>
            </a:lvl1pPr>
          </a:lstStyle>
          <a:p>
            <a:pPr/>
            <a:r>
              <a:t>Caregiver Wellbeing</a:t>
            </a:r>
          </a:p>
        </p:txBody>
      </p:sp>
      <p:sp>
        <p:nvSpPr>
          <p:cNvPr id="216" name="Text 26"/>
          <p:cNvSpPr txBox="1"/>
          <p:nvPr/>
        </p:nvSpPr>
        <p:spPr>
          <a:xfrm>
            <a:off x="4872013" y="4892040"/>
            <a:ext cx="3291841" cy="1124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1200">
                <a:solidFill>
                  <a:srgbClr val="383F5B"/>
                </a:solidFill>
                <a:latin typeface="Martel Sans Light"/>
                <a:ea typeface="Martel Sans Light"/>
                <a:cs typeface="Martel Sans Light"/>
                <a:sym typeface="Martel Sans Light"/>
              </a:defRPr>
            </a:pPr>
            <a:r>
              <a:t>Caregiver: "I haven't slept properly in days and I feel like I'm losing it.</a:t>
            </a:r>
          </a:p>
          <a:p>
            <a:pPr>
              <a:lnSpc>
                <a:spcPts val="1100"/>
              </a:lnSpc>
              <a:defRPr i="1" sz="1200">
                <a:solidFill>
                  <a:srgbClr val="383F5B"/>
                </a:solidFill>
                <a:latin typeface="Martel Sans Light"/>
                <a:ea typeface="Martel Sans Light"/>
                <a:cs typeface="Martel Sans Light"/>
                <a:sym typeface="Martel Sans Light"/>
              </a:defRPr>
            </a:pPr>
          </a:p>
          <a:p>
            <a:pPr>
              <a:lnSpc>
                <a:spcPts val="1100"/>
              </a:lnSpc>
              <a:defRPr i="1" sz="1200">
                <a:solidFill>
                  <a:srgbClr val="383F5B"/>
                </a:solidFill>
                <a:latin typeface="Martel Sans Light"/>
                <a:ea typeface="Martel Sans Light"/>
                <a:cs typeface="Martel Sans Light"/>
                <a:sym typeface="Martel Sans Light"/>
              </a:defRPr>
            </a:pPr>
            <a:r>
              <a:t>”</a:t>
            </a:r>
            <a:r>
              <a:rPr b="1" i="0"/>
              <a:t>AuraGuide:</a:t>
            </a:r>
            <a:r>
              <a:rPr i="0"/>
              <a:t> "Sleep deprivation significantly increases caregiver error risk. You matter too. Would you like a 5-minute guided breathing session right now? I can also search for nearby respite care."</a:t>
            </a:r>
          </a:p>
        </p:txBody>
      </p:sp>
      <p:pic>
        <p:nvPicPr>
          <p:cNvPr id="217" name="pasted-movie.png" descr="pasted-movie.png"/>
          <p:cNvPicPr>
            <a:picLocks noChangeAspect="1"/>
          </p:cNvPicPr>
          <p:nvPr/>
        </p:nvPicPr>
        <p:blipFill>
          <a:blip r:embed="rId2">
            <a:extLst/>
          </a:blip>
          <a:stretch>
            <a:fillRect/>
          </a:stretch>
        </p:blipFill>
        <p:spPr>
          <a:xfrm>
            <a:off x="9146901" y="0"/>
            <a:ext cx="5481044" cy="82296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0"/>
          <p:cNvSpPr/>
          <p:nvPr/>
        </p:nvSpPr>
        <p:spPr>
          <a:xfrm>
            <a:off x="793790" y="545783"/>
            <a:ext cx="431604" cy="213600"/>
          </a:xfrm>
          <a:prstGeom prst="roundRect">
            <a:avLst>
              <a:gd name="adj" fmla="val 20294"/>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20" name="Text 1"/>
          <p:cNvSpPr txBox="1"/>
          <p:nvPr/>
        </p:nvSpPr>
        <p:spPr>
          <a:xfrm>
            <a:off x="871178" y="584477"/>
            <a:ext cx="295028"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GOAL</a:t>
            </a:r>
          </a:p>
        </p:txBody>
      </p:sp>
      <p:sp>
        <p:nvSpPr>
          <p:cNvPr id="221" name="Text 2"/>
          <p:cNvSpPr txBox="1"/>
          <p:nvPr/>
        </p:nvSpPr>
        <p:spPr>
          <a:xfrm>
            <a:off x="793788" y="792837"/>
            <a:ext cx="11625171" cy="38797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2500">
                <a:solidFill>
                  <a:srgbClr val="272D45"/>
                </a:solidFill>
                <a:latin typeface="Martel Sans"/>
                <a:ea typeface="Martel Sans"/>
                <a:cs typeface="Martel Sans"/>
                <a:sym typeface="Martel Sans"/>
              </a:defRPr>
            </a:lvl1pPr>
          </a:lstStyle>
          <a:p>
            <a:pPr/>
            <a:r>
              <a:t>A $72B Market at a Structural Inflection Point. No Dominant Player. Perfect Timing.</a:t>
            </a:r>
          </a:p>
        </p:txBody>
      </p:sp>
      <p:sp>
        <p:nvSpPr>
          <p:cNvPr id="222" name="Text 3"/>
          <p:cNvSpPr txBox="1"/>
          <p:nvPr/>
        </p:nvSpPr>
        <p:spPr>
          <a:xfrm>
            <a:off x="6144338" y="1405533"/>
            <a:ext cx="3124511"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500">
                <a:solidFill>
                  <a:srgbClr val="272D45"/>
                </a:solidFill>
                <a:latin typeface="Martel Sans"/>
                <a:ea typeface="Martel Sans"/>
                <a:cs typeface="Martel Sans"/>
                <a:sym typeface="Martel Sans"/>
              </a:defRPr>
            </a:lvl1pPr>
          </a:lstStyle>
          <a:p>
            <a:pPr/>
            <a:r>
              <a:t>5 Converging Forces — Why Now:</a:t>
            </a:r>
          </a:p>
        </p:txBody>
      </p:sp>
      <p:sp>
        <p:nvSpPr>
          <p:cNvPr id="223" name="Shape 4"/>
          <p:cNvSpPr/>
          <p:nvPr/>
        </p:nvSpPr>
        <p:spPr>
          <a:xfrm>
            <a:off x="6144338" y="1741646"/>
            <a:ext cx="7699773" cy="914164"/>
          </a:xfrm>
          <a:prstGeom prst="roundRect">
            <a:avLst>
              <a:gd name="adj" fmla="val 5927"/>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24" name="Shape 5"/>
          <p:cNvSpPr/>
          <p:nvPr/>
        </p:nvSpPr>
        <p:spPr>
          <a:xfrm>
            <a:off x="6159579" y="1756885"/>
            <a:ext cx="516019" cy="883683"/>
          </a:xfrm>
          <a:prstGeom prst="roundRect">
            <a:avLst>
              <a:gd name="adj" fmla="val 695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25" name="Text 6"/>
          <p:cNvSpPr txBox="1"/>
          <p:nvPr/>
        </p:nvSpPr>
        <p:spPr>
          <a:xfrm>
            <a:off x="6350217" y="2100562"/>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1</a:t>
            </a:r>
          </a:p>
        </p:txBody>
      </p:sp>
      <p:sp>
        <p:nvSpPr>
          <p:cNvPr id="226" name="Text 7"/>
          <p:cNvSpPr txBox="1"/>
          <p:nvPr/>
        </p:nvSpPr>
        <p:spPr>
          <a:xfrm>
            <a:off x="6759416" y="1885831"/>
            <a:ext cx="1662088"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Demographic Avalanche</a:t>
            </a:r>
          </a:p>
        </p:txBody>
      </p:sp>
      <p:sp>
        <p:nvSpPr>
          <p:cNvPr id="227" name="Text 8"/>
          <p:cNvSpPr txBox="1"/>
          <p:nvPr/>
        </p:nvSpPr>
        <p:spPr>
          <a:xfrm>
            <a:off x="6759416" y="2171105"/>
            <a:ext cx="6940510" cy="1612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10,000 boomers turn 65 daily. By 2030, all 73M will be 65+. Projected shortfall of 1.5M professional caregivers by 2030.</a:t>
            </a:r>
          </a:p>
        </p:txBody>
      </p:sp>
      <p:sp>
        <p:nvSpPr>
          <p:cNvPr id="228" name="Shape 9"/>
          <p:cNvSpPr/>
          <p:nvPr/>
        </p:nvSpPr>
        <p:spPr>
          <a:xfrm>
            <a:off x="6144338" y="2739626"/>
            <a:ext cx="7699773" cy="914164"/>
          </a:xfrm>
          <a:prstGeom prst="roundRect">
            <a:avLst>
              <a:gd name="adj" fmla="val 5927"/>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29" name="Shape 10"/>
          <p:cNvSpPr/>
          <p:nvPr/>
        </p:nvSpPr>
        <p:spPr>
          <a:xfrm>
            <a:off x="6159579" y="2754868"/>
            <a:ext cx="516019" cy="883684"/>
          </a:xfrm>
          <a:prstGeom prst="roundRect">
            <a:avLst>
              <a:gd name="adj" fmla="val 695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30" name="Text 11"/>
          <p:cNvSpPr txBox="1"/>
          <p:nvPr/>
        </p:nvSpPr>
        <p:spPr>
          <a:xfrm>
            <a:off x="6350217" y="3098544"/>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2</a:t>
            </a:r>
          </a:p>
        </p:txBody>
      </p:sp>
      <p:sp>
        <p:nvSpPr>
          <p:cNvPr id="231" name="Text 12"/>
          <p:cNvSpPr txBox="1"/>
          <p:nvPr/>
        </p:nvSpPr>
        <p:spPr>
          <a:xfrm>
            <a:off x="6759416" y="2883811"/>
            <a:ext cx="1630462"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$1 Trillion Policy Priority</a:t>
            </a:r>
          </a:p>
        </p:txBody>
      </p:sp>
      <p:sp>
        <p:nvSpPr>
          <p:cNvPr id="232" name="Text 13"/>
          <p:cNvSpPr txBox="1"/>
          <p:nvPr/>
        </p:nvSpPr>
        <p:spPr>
          <a:xfrm>
            <a:off x="6759416" y="3169086"/>
            <a:ext cx="6940510" cy="326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Unpaid caregiving exceeded Medicaid in 2024. Corporate caregiver benefits are a top Fortune 500 HR priority for 2025–2026.</a:t>
            </a:r>
          </a:p>
        </p:txBody>
      </p:sp>
      <p:sp>
        <p:nvSpPr>
          <p:cNvPr id="233" name="Shape 14"/>
          <p:cNvSpPr/>
          <p:nvPr/>
        </p:nvSpPr>
        <p:spPr>
          <a:xfrm>
            <a:off x="6144338" y="3737609"/>
            <a:ext cx="7699773" cy="914164"/>
          </a:xfrm>
          <a:prstGeom prst="roundRect">
            <a:avLst>
              <a:gd name="adj" fmla="val 5927"/>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34" name="Shape 15"/>
          <p:cNvSpPr/>
          <p:nvPr/>
        </p:nvSpPr>
        <p:spPr>
          <a:xfrm>
            <a:off x="6159579" y="3752850"/>
            <a:ext cx="516019" cy="883683"/>
          </a:xfrm>
          <a:prstGeom prst="roundRect">
            <a:avLst>
              <a:gd name="adj" fmla="val 695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35" name="Text 16"/>
          <p:cNvSpPr txBox="1"/>
          <p:nvPr/>
        </p:nvSpPr>
        <p:spPr>
          <a:xfrm>
            <a:off x="6350217" y="4096525"/>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3</a:t>
            </a:r>
          </a:p>
        </p:txBody>
      </p:sp>
      <p:sp>
        <p:nvSpPr>
          <p:cNvPr id="236" name="Text 17"/>
          <p:cNvSpPr txBox="1"/>
          <p:nvPr/>
        </p:nvSpPr>
        <p:spPr>
          <a:xfrm>
            <a:off x="6759416" y="3881794"/>
            <a:ext cx="1402011"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Voice AI Mainstream</a:t>
            </a:r>
          </a:p>
        </p:txBody>
      </p:sp>
      <p:sp>
        <p:nvSpPr>
          <p:cNvPr id="237" name="Text 18"/>
          <p:cNvSpPr txBox="1"/>
          <p:nvPr/>
        </p:nvSpPr>
        <p:spPr>
          <a:xfrm>
            <a:off x="6759416" y="4167068"/>
            <a:ext cx="6940510" cy="326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On-device LLMs and 98%+ accuracy in noisy homes make clinical-grade voice AI viable now. Healthcare voice AI CAGR: 37.87%.</a:t>
            </a:r>
          </a:p>
        </p:txBody>
      </p:sp>
      <p:sp>
        <p:nvSpPr>
          <p:cNvPr id="238" name="Shape 19"/>
          <p:cNvSpPr/>
          <p:nvPr/>
        </p:nvSpPr>
        <p:spPr>
          <a:xfrm>
            <a:off x="6144338" y="4735591"/>
            <a:ext cx="7699773" cy="774027"/>
          </a:xfrm>
          <a:prstGeom prst="roundRect">
            <a:avLst>
              <a:gd name="adj" fmla="val 7000"/>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39" name="Shape 20"/>
          <p:cNvSpPr/>
          <p:nvPr/>
        </p:nvSpPr>
        <p:spPr>
          <a:xfrm>
            <a:off x="6159579" y="4750832"/>
            <a:ext cx="516019" cy="743547"/>
          </a:xfrm>
          <a:prstGeom prst="roundRect">
            <a:avLst>
              <a:gd name="adj" fmla="val 695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40" name="Text 21"/>
          <p:cNvSpPr txBox="1"/>
          <p:nvPr/>
        </p:nvSpPr>
        <p:spPr>
          <a:xfrm>
            <a:off x="6350217" y="5024499"/>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4</a:t>
            </a:r>
          </a:p>
        </p:txBody>
      </p:sp>
      <p:sp>
        <p:nvSpPr>
          <p:cNvPr id="241" name="Text 22"/>
          <p:cNvSpPr txBox="1"/>
          <p:nvPr/>
        </p:nvSpPr>
        <p:spPr>
          <a:xfrm>
            <a:off x="6759416" y="4879776"/>
            <a:ext cx="1647354"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Post-COVID Acuity Shift</a:t>
            </a:r>
          </a:p>
        </p:txBody>
      </p:sp>
      <p:sp>
        <p:nvSpPr>
          <p:cNvPr id="242" name="Text 23"/>
          <p:cNvSpPr txBox="1"/>
          <p:nvPr/>
        </p:nvSpPr>
        <p:spPr>
          <a:xfrm>
            <a:off x="6759416" y="5165049"/>
            <a:ext cx="6524985"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35%+ increase in home-based care since 2020. Medically complex patients now under untrained family supervision.</a:t>
            </a:r>
          </a:p>
        </p:txBody>
      </p:sp>
      <p:sp>
        <p:nvSpPr>
          <p:cNvPr id="243" name="Shape 24"/>
          <p:cNvSpPr/>
          <p:nvPr/>
        </p:nvSpPr>
        <p:spPr>
          <a:xfrm>
            <a:off x="6144338" y="5593436"/>
            <a:ext cx="7699773" cy="774027"/>
          </a:xfrm>
          <a:prstGeom prst="roundRect">
            <a:avLst>
              <a:gd name="adj" fmla="val 7000"/>
            </a:avLst>
          </a:prstGeom>
          <a:solidFill>
            <a:srgbClr val="FAFAFA"/>
          </a:solidFill>
          <a:ln w="15240">
            <a:solidFill>
              <a:srgbClr val="C0CDD7"/>
            </a:solidFill>
          </a:ln>
        </p:spPr>
        <p:txBody>
          <a:bodyPr lIns="45718" tIns="45718" rIns="45718" bIns="45718"/>
          <a:lstStyle/>
          <a:p>
            <a:pPr>
              <a:defRPr>
                <a:latin typeface="+mj-lt"/>
                <a:ea typeface="+mj-ea"/>
                <a:cs typeface="+mj-cs"/>
                <a:sym typeface="Calibri"/>
              </a:defRPr>
            </a:pPr>
          </a:p>
        </p:txBody>
      </p:sp>
      <p:sp>
        <p:nvSpPr>
          <p:cNvPr id="244" name="Shape 25"/>
          <p:cNvSpPr/>
          <p:nvPr/>
        </p:nvSpPr>
        <p:spPr>
          <a:xfrm>
            <a:off x="6159579" y="5608677"/>
            <a:ext cx="516019" cy="743547"/>
          </a:xfrm>
          <a:prstGeom prst="roundRect">
            <a:avLst>
              <a:gd name="adj" fmla="val 6956"/>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45" name="Text 26"/>
          <p:cNvSpPr txBox="1"/>
          <p:nvPr/>
        </p:nvSpPr>
        <p:spPr>
          <a:xfrm>
            <a:off x="6350217" y="5882344"/>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5</a:t>
            </a:r>
          </a:p>
        </p:txBody>
      </p:sp>
      <p:sp>
        <p:nvSpPr>
          <p:cNvPr id="246" name="Text 27"/>
          <p:cNvSpPr txBox="1"/>
          <p:nvPr/>
        </p:nvSpPr>
        <p:spPr>
          <a:xfrm>
            <a:off x="6759416" y="5737621"/>
            <a:ext cx="1571303"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Complete White Space</a:t>
            </a:r>
          </a:p>
        </p:txBody>
      </p:sp>
      <p:sp>
        <p:nvSpPr>
          <p:cNvPr id="247" name="Text 28"/>
          <p:cNvSpPr txBox="1"/>
          <p:nvPr/>
        </p:nvSpPr>
        <p:spPr>
          <a:xfrm>
            <a:off x="6759416" y="6022895"/>
            <a:ext cx="6118746"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Existing apps are passive. Clinical platforms ignore families. No app combines voice + clinical AI + wellbeing.</a:t>
            </a:r>
          </a:p>
        </p:txBody>
      </p:sp>
      <p:sp>
        <p:nvSpPr>
          <p:cNvPr id="248" name="Text 29"/>
          <p:cNvSpPr txBox="1"/>
          <p:nvPr/>
        </p:nvSpPr>
        <p:spPr>
          <a:xfrm>
            <a:off x="793789" y="6556057"/>
            <a:ext cx="5920235"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Sources: Allied Market Research 2023 | US Census Bureau | PHI National | AARP 2026 | Nova One Advisor 2024 | CMS/CDC 2024</a:t>
            </a:r>
          </a:p>
        </p:txBody>
      </p:sp>
      <p:pic>
        <p:nvPicPr>
          <p:cNvPr id="249" name="pasted-movie.png" descr="pasted-movie.png"/>
          <p:cNvPicPr>
            <a:picLocks noChangeAspect="1"/>
          </p:cNvPicPr>
          <p:nvPr/>
        </p:nvPicPr>
        <p:blipFill>
          <a:blip r:embed="rId2">
            <a:extLst/>
          </a:blip>
          <a:stretch>
            <a:fillRect/>
          </a:stretch>
        </p:blipFill>
        <p:spPr>
          <a:xfrm>
            <a:off x="1226708" y="1604200"/>
            <a:ext cx="4012162" cy="452847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0"/>
          <p:cNvSpPr/>
          <p:nvPr/>
        </p:nvSpPr>
        <p:spPr>
          <a:xfrm>
            <a:off x="793790" y="545783"/>
            <a:ext cx="1422797" cy="300992"/>
          </a:xfrm>
          <a:prstGeom prst="roundRect">
            <a:avLst>
              <a:gd name="adj" fmla="val 18833"/>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252" name="Text 1"/>
          <p:cNvSpPr txBox="1"/>
          <p:nvPr/>
        </p:nvSpPr>
        <p:spPr>
          <a:xfrm>
            <a:off x="894993" y="596382"/>
            <a:ext cx="1181807"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MARKET POSITION</a:t>
            </a:r>
          </a:p>
        </p:txBody>
      </p:sp>
      <p:sp>
        <p:nvSpPr>
          <p:cNvPr id="253" name="Text 2"/>
          <p:cNvSpPr txBox="1"/>
          <p:nvPr/>
        </p:nvSpPr>
        <p:spPr>
          <a:xfrm>
            <a:off x="793789" y="904041"/>
            <a:ext cx="7093608" cy="51294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100"/>
              </a:lnSpc>
              <a:defRPr sz="3300">
                <a:solidFill>
                  <a:srgbClr val="272D45"/>
                </a:solidFill>
                <a:latin typeface="Martel Sans"/>
                <a:ea typeface="Martel Sans"/>
                <a:cs typeface="Martel Sans"/>
                <a:sym typeface="Martel Sans"/>
              </a:defRPr>
            </a:lvl1pPr>
          </a:lstStyle>
          <a:p>
            <a:pPr/>
            <a:r>
              <a:t>Built for Caregivers, Not Just Patients.</a:t>
            </a:r>
          </a:p>
        </p:txBody>
      </p:sp>
      <p:sp>
        <p:nvSpPr>
          <p:cNvPr id="254" name="Text 3"/>
          <p:cNvSpPr txBox="1"/>
          <p:nvPr/>
        </p:nvSpPr>
        <p:spPr>
          <a:xfrm>
            <a:off x="793790" y="1646158"/>
            <a:ext cx="13042821"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AuraGuide is the only platform purpose-built for the caregiver's workflow — combining clinical AI, voice-first design, wellbeing monitoring, and a hardware integration path no competitor can replicate.</a:t>
            </a:r>
          </a:p>
        </p:txBody>
      </p:sp>
      <p:sp>
        <p:nvSpPr>
          <p:cNvPr id="255" name="Shape 4"/>
          <p:cNvSpPr/>
          <p:nvPr/>
        </p:nvSpPr>
        <p:spPr>
          <a:xfrm>
            <a:off x="793790" y="2306715"/>
            <a:ext cx="13042821" cy="4257440"/>
          </a:xfrm>
          <a:prstGeom prst="roundRect">
            <a:avLst>
              <a:gd name="adj" fmla="val 1664"/>
            </a:avLst>
          </a:prstGeom>
          <a:ln w="7620">
            <a:solidFill>
              <a:srgbClr val="000000">
                <a:alpha val="8000"/>
              </a:srgbClr>
            </a:solidFill>
          </a:ln>
        </p:spPr>
        <p:txBody>
          <a:bodyPr lIns="45718" tIns="45718" rIns="45718" bIns="45718"/>
          <a:lstStyle/>
          <a:p>
            <a:pPr>
              <a:defRPr>
                <a:latin typeface="+mj-lt"/>
                <a:ea typeface="+mj-ea"/>
                <a:cs typeface="+mj-cs"/>
                <a:sym typeface="Calibri"/>
              </a:defRPr>
            </a:pPr>
          </a:p>
        </p:txBody>
      </p:sp>
      <p:sp>
        <p:nvSpPr>
          <p:cNvPr id="256" name="Text 5"/>
          <p:cNvSpPr txBox="1"/>
          <p:nvPr/>
        </p:nvSpPr>
        <p:spPr>
          <a:xfrm>
            <a:off x="970358" y="2407920"/>
            <a:ext cx="801683"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Capability</a:t>
            </a:r>
          </a:p>
        </p:txBody>
      </p:sp>
      <p:sp>
        <p:nvSpPr>
          <p:cNvPr id="257" name="Text 6"/>
          <p:cNvSpPr txBox="1"/>
          <p:nvPr/>
        </p:nvSpPr>
        <p:spPr>
          <a:xfrm>
            <a:off x="4621886" y="2407920"/>
            <a:ext cx="856661"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AuraGuide</a:t>
            </a:r>
          </a:p>
        </p:txBody>
      </p:sp>
      <p:sp>
        <p:nvSpPr>
          <p:cNvPr id="258" name="Text 7"/>
          <p:cNvSpPr txBox="1"/>
          <p:nvPr/>
        </p:nvSpPr>
        <p:spPr>
          <a:xfrm>
            <a:off x="6575941" y="2407920"/>
            <a:ext cx="1609251"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Generic Voice (Siri/Alexa)</a:t>
            </a:r>
          </a:p>
        </p:txBody>
      </p:sp>
      <p:sp>
        <p:nvSpPr>
          <p:cNvPr id="259" name="Text 8"/>
          <p:cNvSpPr txBox="1"/>
          <p:nvPr/>
        </p:nvSpPr>
        <p:spPr>
          <a:xfrm>
            <a:off x="8529994" y="2407920"/>
            <a:ext cx="1609251"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Care Scheduling Apps</a:t>
            </a:r>
          </a:p>
        </p:txBody>
      </p:sp>
      <p:sp>
        <p:nvSpPr>
          <p:cNvPr id="260" name="Text 9"/>
          <p:cNvSpPr txBox="1"/>
          <p:nvPr/>
        </p:nvSpPr>
        <p:spPr>
          <a:xfrm>
            <a:off x="10484046" y="2407920"/>
            <a:ext cx="1609251"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Clinical Platforms (Epic)</a:t>
            </a:r>
          </a:p>
        </p:txBody>
      </p:sp>
      <p:sp>
        <p:nvSpPr>
          <p:cNvPr id="261" name="Text 10"/>
          <p:cNvSpPr txBox="1"/>
          <p:nvPr/>
        </p:nvSpPr>
        <p:spPr>
          <a:xfrm>
            <a:off x="12438102" y="2407920"/>
            <a:ext cx="1222298"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Senior Care Apps</a:t>
            </a:r>
          </a:p>
        </p:txBody>
      </p:sp>
      <p:sp>
        <p:nvSpPr>
          <p:cNvPr id="262" name="Text 11"/>
          <p:cNvSpPr txBox="1"/>
          <p:nvPr/>
        </p:nvSpPr>
        <p:spPr>
          <a:xfrm>
            <a:off x="970358" y="3102054"/>
            <a:ext cx="1352365"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Voice-First Design</a:t>
            </a:r>
          </a:p>
        </p:txBody>
      </p:sp>
      <p:sp>
        <p:nvSpPr>
          <p:cNvPr id="263" name="Text 12"/>
          <p:cNvSpPr txBox="1"/>
          <p:nvPr/>
        </p:nvSpPr>
        <p:spPr>
          <a:xfrm>
            <a:off x="4621886" y="3102054"/>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64" name="Text 13"/>
          <p:cNvSpPr txBox="1"/>
          <p:nvPr/>
        </p:nvSpPr>
        <p:spPr>
          <a:xfrm>
            <a:off x="6575941" y="3102054"/>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65" name="Text 14"/>
          <p:cNvSpPr txBox="1"/>
          <p:nvPr/>
        </p:nvSpPr>
        <p:spPr>
          <a:xfrm>
            <a:off x="8529994"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66" name="Text 15"/>
          <p:cNvSpPr txBox="1"/>
          <p:nvPr/>
        </p:nvSpPr>
        <p:spPr>
          <a:xfrm>
            <a:off x="10484046"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67" name="Text 16"/>
          <p:cNvSpPr txBox="1"/>
          <p:nvPr/>
        </p:nvSpPr>
        <p:spPr>
          <a:xfrm>
            <a:off x="12438102"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68" name="Text 17"/>
          <p:cNvSpPr txBox="1"/>
          <p:nvPr/>
        </p:nvSpPr>
        <p:spPr>
          <a:xfrm>
            <a:off x="970358" y="3546514"/>
            <a:ext cx="2233571"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Clinical Medical AI Intelligence</a:t>
            </a:r>
          </a:p>
        </p:txBody>
      </p:sp>
      <p:sp>
        <p:nvSpPr>
          <p:cNvPr id="269" name="Text 18"/>
          <p:cNvSpPr txBox="1"/>
          <p:nvPr/>
        </p:nvSpPr>
        <p:spPr>
          <a:xfrm>
            <a:off x="4621886" y="3546514"/>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70" name="Text 19"/>
          <p:cNvSpPr txBox="1"/>
          <p:nvPr/>
        </p:nvSpPr>
        <p:spPr>
          <a:xfrm>
            <a:off x="6575941" y="354651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1" name="Text 20"/>
          <p:cNvSpPr txBox="1"/>
          <p:nvPr/>
        </p:nvSpPr>
        <p:spPr>
          <a:xfrm>
            <a:off x="8529994" y="354651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2" name="Text 21"/>
          <p:cNvSpPr txBox="1"/>
          <p:nvPr/>
        </p:nvSpPr>
        <p:spPr>
          <a:xfrm>
            <a:off x="10484046" y="354651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3" name="Text 22"/>
          <p:cNvSpPr txBox="1"/>
          <p:nvPr/>
        </p:nvSpPr>
        <p:spPr>
          <a:xfrm>
            <a:off x="12438102" y="354651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4" name="Text 23"/>
          <p:cNvSpPr txBox="1"/>
          <p:nvPr/>
        </p:nvSpPr>
        <p:spPr>
          <a:xfrm>
            <a:off x="970359" y="3990973"/>
            <a:ext cx="2313056" cy="2310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Caregiver Wellbeing Monitoring</a:t>
            </a:r>
          </a:p>
        </p:txBody>
      </p:sp>
      <p:sp>
        <p:nvSpPr>
          <p:cNvPr id="275" name="Text 24"/>
          <p:cNvSpPr txBox="1"/>
          <p:nvPr/>
        </p:nvSpPr>
        <p:spPr>
          <a:xfrm>
            <a:off x="4621886" y="3990973"/>
            <a:ext cx="138863"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76" name="Text 25"/>
          <p:cNvSpPr txBox="1"/>
          <p:nvPr/>
        </p:nvSpPr>
        <p:spPr>
          <a:xfrm>
            <a:off x="6575941" y="3990973"/>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7" name="Text 26"/>
          <p:cNvSpPr txBox="1"/>
          <p:nvPr/>
        </p:nvSpPr>
        <p:spPr>
          <a:xfrm>
            <a:off x="8529994" y="3990973"/>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8" name="Text 27"/>
          <p:cNvSpPr txBox="1"/>
          <p:nvPr/>
        </p:nvSpPr>
        <p:spPr>
          <a:xfrm>
            <a:off x="10484046" y="3990973"/>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9" name="Text 28"/>
          <p:cNvSpPr txBox="1"/>
          <p:nvPr/>
        </p:nvSpPr>
        <p:spPr>
          <a:xfrm>
            <a:off x="12438102" y="3990973"/>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0" name="Text 29"/>
          <p:cNvSpPr txBox="1"/>
          <p:nvPr/>
        </p:nvSpPr>
        <p:spPr>
          <a:xfrm>
            <a:off x="970359" y="4435435"/>
            <a:ext cx="2362070"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Medication Interaction Checking</a:t>
            </a:r>
          </a:p>
        </p:txBody>
      </p:sp>
      <p:sp>
        <p:nvSpPr>
          <p:cNvPr id="281" name="Text 30"/>
          <p:cNvSpPr txBox="1"/>
          <p:nvPr/>
        </p:nvSpPr>
        <p:spPr>
          <a:xfrm>
            <a:off x="4621886" y="4435435"/>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82" name="Text 31"/>
          <p:cNvSpPr txBox="1"/>
          <p:nvPr/>
        </p:nvSpPr>
        <p:spPr>
          <a:xfrm>
            <a:off x="6575941"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3" name="Text 32"/>
          <p:cNvSpPr txBox="1"/>
          <p:nvPr/>
        </p:nvSpPr>
        <p:spPr>
          <a:xfrm>
            <a:off x="8529994"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4" name="Text 33"/>
          <p:cNvSpPr txBox="1"/>
          <p:nvPr/>
        </p:nvSpPr>
        <p:spPr>
          <a:xfrm>
            <a:off x="10484046" y="4435435"/>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5" name="Text 34"/>
          <p:cNvSpPr txBox="1"/>
          <p:nvPr/>
        </p:nvSpPr>
        <p:spPr>
          <a:xfrm>
            <a:off x="12438102"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6" name="Text 35"/>
          <p:cNvSpPr txBox="1"/>
          <p:nvPr/>
        </p:nvSpPr>
        <p:spPr>
          <a:xfrm>
            <a:off x="970359" y="4879895"/>
            <a:ext cx="1697317"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40+ Language Support</a:t>
            </a:r>
          </a:p>
        </p:txBody>
      </p:sp>
      <p:sp>
        <p:nvSpPr>
          <p:cNvPr id="287" name="Text 36"/>
          <p:cNvSpPr txBox="1"/>
          <p:nvPr/>
        </p:nvSpPr>
        <p:spPr>
          <a:xfrm>
            <a:off x="4621886" y="4879895"/>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88" name="Text 37"/>
          <p:cNvSpPr txBox="1"/>
          <p:nvPr/>
        </p:nvSpPr>
        <p:spPr>
          <a:xfrm>
            <a:off x="6575941" y="4879895"/>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9" name="Text 38"/>
          <p:cNvSpPr txBox="1"/>
          <p:nvPr/>
        </p:nvSpPr>
        <p:spPr>
          <a:xfrm>
            <a:off x="8529994" y="487989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0" name="Text 39"/>
          <p:cNvSpPr txBox="1"/>
          <p:nvPr/>
        </p:nvSpPr>
        <p:spPr>
          <a:xfrm>
            <a:off x="10484046" y="487989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1" name="Text 40"/>
          <p:cNvSpPr txBox="1"/>
          <p:nvPr/>
        </p:nvSpPr>
        <p:spPr>
          <a:xfrm>
            <a:off x="12438102" y="487989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2" name="Text 41"/>
          <p:cNvSpPr txBox="1"/>
          <p:nvPr/>
        </p:nvSpPr>
        <p:spPr>
          <a:xfrm>
            <a:off x="970358" y="5324356"/>
            <a:ext cx="1939970"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Hardware Integration Path</a:t>
            </a:r>
          </a:p>
        </p:txBody>
      </p:sp>
      <p:sp>
        <p:nvSpPr>
          <p:cNvPr id="293" name="Text 42"/>
          <p:cNvSpPr txBox="1"/>
          <p:nvPr/>
        </p:nvSpPr>
        <p:spPr>
          <a:xfrm>
            <a:off x="4621886" y="5324356"/>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94" name="Text 43"/>
          <p:cNvSpPr txBox="1"/>
          <p:nvPr/>
        </p:nvSpPr>
        <p:spPr>
          <a:xfrm>
            <a:off x="6575941"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5" name="Text 44"/>
          <p:cNvSpPr txBox="1"/>
          <p:nvPr/>
        </p:nvSpPr>
        <p:spPr>
          <a:xfrm>
            <a:off x="8529994"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6" name="Text 45"/>
          <p:cNvSpPr txBox="1"/>
          <p:nvPr/>
        </p:nvSpPr>
        <p:spPr>
          <a:xfrm>
            <a:off x="10484046"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7" name="Text 46"/>
          <p:cNvSpPr txBox="1"/>
          <p:nvPr/>
        </p:nvSpPr>
        <p:spPr>
          <a:xfrm>
            <a:off x="12438102"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8" name="Text 47"/>
          <p:cNvSpPr txBox="1"/>
          <p:nvPr/>
        </p:nvSpPr>
        <p:spPr>
          <a:xfrm>
            <a:off x="970358" y="5768816"/>
            <a:ext cx="2725646"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Purpose-Built for Caregiver Workflow</a:t>
            </a:r>
          </a:p>
        </p:txBody>
      </p:sp>
      <p:sp>
        <p:nvSpPr>
          <p:cNvPr id="299" name="Text 48"/>
          <p:cNvSpPr txBox="1"/>
          <p:nvPr/>
        </p:nvSpPr>
        <p:spPr>
          <a:xfrm>
            <a:off x="4621886" y="5768816"/>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300" name="Text 49"/>
          <p:cNvSpPr txBox="1"/>
          <p:nvPr/>
        </p:nvSpPr>
        <p:spPr>
          <a:xfrm>
            <a:off x="6575941"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1" name="Text 50"/>
          <p:cNvSpPr txBox="1"/>
          <p:nvPr/>
        </p:nvSpPr>
        <p:spPr>
          <a:xfrm>
            <a:off x="8529994"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2" name="Text 51"/>
          <p:cNvSpPr txBox="1"/>
          <p:nvPr/>
        </p:nvSpPr>
        <p:spPr>
          <a:xfrm>
            <a:off x="10484046"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3" name="Text 52"/>
          <p:cNvSpPr txBox="1"/>
          <p:nvPr/>
        </p:nvSpPr>
        <p:spPr>
          <a:xfrm>
            <a:off x="12438102"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4" name="Text 53"/>
          <p:cNvSpPr txBox="1"/>
          <p:nvPr/>
        </p:nvSpPr>
        <p:spPr>
          <a:xfrm>
            <a:off x="970358" y="6213276"/>
            <a:ext cx="2168917"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Consumer-Accessible Pricing</a:t>
            </a:r>
          </a:p>
        </p:txBody>
      </p:sp>
      <p:sp>
        <p:nvSpPr>
          <p:cNvPr id="305" name="Text 54"/>
          <p:cNvSpPr txBox="1"/>
          <p:nvPr/>
        </p:nvSpPr>
        <p:spPr>
          <a:xfrm>
            <a:off x="4621886" y="6213276"/>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306" name="Text 55"/>
          <p:cNvSpPr txBox="1"/>
          <p:nvPr/>
        </p:nvSpPr>
        <p:spPr>
          <a:xfrm>
            <a:off x="6575941" y="6213276"/>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7" name="Text 56"/>
          <p:cNvSpPr txBox="1"/>
          <p:nvPr/>
        </p:nvSpPr>
        <p:spPr>
          <a:xfrm>
            <a:off x="8529994" y="6213276"/>
            <a:ext cx="138863"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8" name="Text 57"/>
          <p:cNvSpPr txBox="1"/>
          <p:nvPr/>
        </p:nvSpPr>
        <p:spPr>
          <a:xfrm>
            <a:off x="10484046" y="621327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9" name="Text 58"/>
          <p:cNvSpPr txBox="1"/>
          <p:nvPr/>
        </p:nvSpPr>
        <p:spPr>
          <a:xfrm>
            <a:off x="12438102" y="621327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0" name="Shape 59"/>
          <p:cNvSpPr/>
          <p:nvPr/>
        </p:nvSpPr>
        <p:spPr>
          <a:xfrm>
            <a:off x="793790" y="6725363"/>
            <a:ext cx="13042821" cy="648416"/>
          </a:xfrm>
          <a:prstGeom prst="roundRect">
            <a:avLst>
              <a:gd name="adj" fmla="val 10927"/>
            </a:avLst>
          </a:prstGeom>
          <a:solidFill>
            <a:srgbClr val="C8DAEA"/>
          </a:solidFill>
          <a:ln w="12700">
            <a:miter lim="400000"/>
          </a:ln>
        </p:spPr>
        <p:txBody>
          <a:bodyPr lIns="45718" tIns="45718" rIns="45718" bIns="45718"/>
          <a:lstStyle/>
          <a:p>
            <a:pPr>
              <a:defRPr>
                <a:latin typeface="+mj-lt"/>
                <a:ea typeface="+mj-ea"/>
                <a:cs typeface="+mj-cs"/>
                <a:sym typeface="Calibri"/>
              </a:defRPr>
            </a:pPr>
          </a:p>
        </p:txBody>
      </p:sp>
      <p:pic>
        <p:nvPicPr>
          <p:cNvPr id="311" name="Image 0" descr="Image 0"/>
          <p:cNvPicPr>
            <a:picLocks noChangeAspect="1"/>
          </p:cNvPicPr>
          <p:nvPr/>
        </p:nvPicPr>
        <p:blipFill>
          <a:blip r:embed="rId2">
            <a:extLst/>
          </a:blip>
          <a:stretch>
            <a:fillRect/>
          </a:stretch>
        </p:blipFill>
        <p:spPr>
          <a:xfrm>
            <a:off x="962380" y="6948606"/>
            <a:ext cx="210862" cy="168595"/>
          </a:xfrm>
          <a:prstGeom prst="rect">
            <a:avLst/>
          </a:prstGeom>
          <a:ln w="12700">
            <a:miter lim="400000"/>
          </a:ln>
        </p:spPr>
      </p:pic>
      <p:sp>
        <p:nvSpPr>
          <p:cNvPr id="312" name="Text 60"/>
          <p:cNvSpPr txBox="1"/>
          <p:nvPr/>
        </p:nvSpPr>
        <p:spPr>
          <a:xfrm>
            <a:off x="1341833" y="6910864"/>
            <a:ext cx="10949528"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latin typeface="Martel Sans Light"/>
                <a:ea typeface="Martel Sans Light"/>
                <a:cs typeface="Martel Sans Light"/>
                <a:sym typeface="Martel Sans Light"/>
              </a:defRPr>
            </a:lvl1pPr>
          </a:lstStyle>
          <a:p>
            <a:pPr/>
            <a:r>
              <a:t>"AuraGuide is the only platform that combines voice-first design, clinical AI intelligence, and caregiver wellbeing monitoring at a consumer price point."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0"/>
          <p:cNvSpPr/>
          <p:nvPr/>
        </p:nvSpPr>
        <p:spPr>
          <a:xfrm>
            <a:off x="781407" y="556735"/>
            <a:ext cx="1254562" cy="272298"/>
          </a:xfrm>
          <a:prstGeom prst="roundRect">
            <a:avLst>
              <a:gd name="adj" fmla="val 19287"/>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315" name="Text 1"/>
          <p:cNvSpPr txBox="1"/>
          <p:nvPr/>
        </p:nvSpPr>
        <p:spPr>
          <a:xfrm>
            <a:off x="875108" y="603527"/>
            <a:ext cx="1028956" cy="1685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400"/>
              </a:lnSpc>
              <a:defRPr sz="900">
                <a:solidFill>
                  <a:srgbClr val="383F5B"/>
                </a:solidFill>
                <a:latin typeface="Martel Sans Light"/>
                <a:ea typeface="Martel Sans Light"/>
                <a:cs typeface="Martel Sans Light"/>
                <a:sym typeface="Martel Sans Light"/>
              </a:defRPr>
            </a:lvl1pPr>
          </a:lstStyle>
          <a:p>
            <a:pPr/>
            <a:r>
              <a:t>BUSINESS MODEL</a:t>
            </a:r>
          </a:p>
        </p:txBody>
      </p:sp>
      <p:sp>
        <p:nvSpPr>
          <p:cNvPr id="316" name="Text 2"/>
          <p:cNvSpPr txBox="1"/>
          <p:nvPr/>
        </p:nvSpPr>
        <p:spPr>
          <a:xfrm>
            <a:off x="781405" y="878205"/>
            <a:ext cx="7170218" cy="4737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800"/>
              </a:lnSpc>
              <a:defRPr sz="3000">
                <a:solidFill>
                  <a:srgbClr val="272D45"/>
                </a:solidFill>
                <a:latin typeface="Martel Sans"/>
                <a:ea typeface="Martel Sans"/>
                <a:cs typeface="Martel Sans"/>
                <a:sym typeface="Martel Sans"/>
              </a:defRPr>
            </a:lvl1pPr>
          </a:lstStyle>
          <a:p>
            <a:pPr/>
            <a:r>
              <a:t>Software-First, Recurring Revenue Engine</a:t>
            </a:r>
          </a:p>
        </p:txBody>
      </p:sp>
      <p:sp>
        <p:nvSpPr>
          <p:cNvPr id="317" name="Text 3"/>
          <p:cNvSpPr txBox="1"/>
          <p:nvPr/>
        </p:nvSpPr>
        <p:spPr>
          <a:xfrm>
            <a:off x="781406" y="1551146"/>
            <a:ext cx="5900118"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AuraGuide runs on a freemium SaaS model with three tiers and a clear enterprise path.</a:t>
            </a:r>
          </a:p>
        </p:txBody>
      </p:sp>
      <p:sp>
        <p:nvSpPr>
          <p:cNvPr id="318" name="Shape 4"/>
          <p:cNvSpPr/>
          <p:nvPr/>
        </p:nvSpPr>
        <p:spPr>
          <a:xfrm>
            <a:off x="781407" y="2051566"/>
            <a:ext cx="4191357" cy="1642112"/>
          </a:xfrm>
          <a:prstGeom prst="roundRect">
            <a:avLst>
              <a:gd name="adj" fmla="val 3998"/>
            </a:avLst>
          </a:prstGeom>
          <a:solidFill>
            <a:srgbClr val="FAFAFA"/>
          </a:solidFill>
          <a:ln w="22860">
            <a:solidFill>
              <a:srgbClr val="C0CDD7"/>
            </a:solidFill>
          </a:ln>
        </p:spPr>
        <p:txBody>
          <a:bodyPr lIns="45718" tIns="45718" rIns="45718" bIns="45718"/>
          <a:lstStyle/>
          <a:p>
            <a:pPr>
              <a:defRPr>
                <a:latin typeface="+mj-lt"/>
                <a:ea typeface="+mj-ea"/>
                <a:cs typeface="+mj-cs"/>
                <a:sym typeface="Calibri"/>
              </a:defRPr>
            </a:pPr>
          </a:p>
        </p:txBody>
      </p:sp>
      <p:sp>
        <p:nvSpPr>
          <p:cNvPr id="319" name="Text 5"/>
          <p:cNvSpPr txBox="1"/>
          <p:nvPr/>
        </p:nvSpPr>
        <p:spPr>
          <a:xfrm>
            <a:off x="960477" y="2230634"/>
            <a:ext cx="2606093" cy="2674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900"/>
              </a:lnSpc>
              <a:defRPr sz="1500">
                <a:latin typeface="Martel Sans"/>
                <a:ea typeface="Martel Sans"/>
                <a:cs typeface="Martel Sans"/>
                <a:sym typeface="Martel Sans"/>
              </a:defRPr>
            </a:pPr>
            <a:r>
              <a:t>🆓</a:t>
            </a:r>
            <a:r>
              <a:rPr>
                <a:solidFill>
                  <a:srgbClr val="383F5B"/>
                </a:solidFill>
              </a:rPr>
              <a:t> Free — Freemium Onramp</a:t>
            </a:r>
          </a:p>
        </p:txBody>
      </p:sp>
      <p:sp>
        <p:nvSpPr>
          <p:cNvPr id="320" name="Text 6"/>
          <p:cNvSpPr txBox="1"/>
          <p:nvPr/>
        </p:nvSpPr>
        <p:spPr>
          <a:xfrm>
            <a:off x="960476" y="2620684"/>
            <a:ext cx="3833219" cy="639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Basic care logging, medication reminders, emergency contacts. No credit card required. Designed as onboarding funnel for premium conversion.</a:t>
            </a:r>
          </a:p>
        </p:txBody>
      </p:sp>
      <p:sp>
        <p:nvSpPr>
          <p:cNvPr id="321" name="Shape 7"/>
          <p:cNvSpPr/>
          <p:nvPr/>
        </p:nvSpPr>
        <p:spPr>
          <a:xfrm>
            <a:off x="5249107" y="1913096"/>
            <a:ext cx="4281847" cy="2535436"/>
          </a:xfrm>
          <a:prstGeom prst="roundRect">
            <a:avLst>
              <a:gd name="adj" fmla="val 4438"/>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sp>
        <p:nvSpPr>
          <p:cNvPr id="322" name="Shape 8"/>
          <p:cNvSpPr/>
          <p:nvPr/>
        </p:nvSpPr>
        <p:spPr>
          <a:xfrm>
            <a:off x="5405318" y="2051566"/>
            <a:ext cx="3969427" cy="2258499"/>
          </a:xfrm>
          <a:prstGeom prst="roundRect">
            <a:avLst>
              <a:gd name="adj" fmla="val 2907"/>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23" name="Text 9"/>
          <p:cNvSpPr txBox="1"/>
          <p:nvPr/>
        </p:nvSpPr>
        <p:spPr>
          <a:xfrm>
            <a:off x="5569148" y="2215395"/>
            <a:ext cx="2543120" cy="26745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latin typeface="Martel Sans"/>
                <a:ea typeface="Martel Sans"/>
                <a:cs typeface="Martel Sans"/>
                <a:sym typeface="Martel Sans"/>
              </a:defRPr>
            </a:lvl1pPr>
          </a:lstStyle>
          <a:p>
            <a:pPr/>
            <a:r>
              <a:t>⭐ Premium — $29.99/month</a:t>
            </a:r>
          </a:p>
        </p:txBody>
      </p:sp>
      <p:sp>
        <p:nvSpPr>
          <p:cNvPr id="324" name="Text 10"/>
          <p:cNvSpPr txBox="1"/>
          <p:nvPr/>
        </p:nvSpPr>
        <p:spPr>
          <a:xfrm>
            <a:off x="5569148" y="2605445"/>
            <a:ext cx="3641767" cy="639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latin typeface="Martel Sans Light"/>
                <a:ea typeface="Martel Sans Light"/>
                <a:cs typeface="Martel Sans Light"/>
                <a:sym typeface="Martel Sans Light"/>
              </a:defRPr>
            </a:lvl1pPr>
          </a:lstStyle>
          <a:p>
            <a:pPr/>
            <a:r>
              <a:t>Full voice AI with clinical intelligence, smart care plans, medication interaction checking, wellbeing monitoring, multi-language support, family sharing.</a:t>
            </a:r>
          </a:p>
        </p:txBody>
      </p:sp>
      <p:sp>
        <p:nvSpPr>
          <p:cNvPr id="325" name="Text 11"/>
          <p:cNvSpPr txBox="1"/>
          <p:nvPr/>
        </p:nvSpPr>
        <p:spPr>
          <a:xfrm>
            <a:off x="5569148" y="3610092"/>
            <a:ext cx="3641767" cy="3463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900">
                <a:latin typeface="Martel Sans Light"/>
                <a:ea typeface="Martel Sans Light"/>
                <a:cs typeface="Martel Sans Light"/>
                <a:sym typeface="Martel Sans Light"/>
              </a:defRPr>
            </a:lvl1pPr>
          </a:lstStyle>
          <a:p>
            <a:pPr/>
            <a:r>
              <a:t>Benchmarked: Calm ($14.99), Noom ($17), Papa ($20–35). AuraGuide delivers direct clinical safety value at the same consumer price.</a:t>
            </a:r>
          </a:p>
        </p:txBody>
      </p:sp>
      <p:sp>
        <p:nvSpPr>
          <p:cNvPr id="326" name="Shape 12"/>
          <p:cNvSpPr/>
          <p:nvPr/>
        </p:nvSpPr>
        <p:spPr>
          <a:xfrm>
            <a:off x="9807295" y="2051566"/>
            <a:ext cx="4056819" cy="1886785"/>
          </a:xfrm>
          <a:prstGeom prst="roundRect">
            <a:avLst>
              <a:gd name="adj" fmla="val 3479"/>
            </a:avLst>
          </a:prstGeom>
          <a:solidFill>
            <a:srgbClr val="FAFAFA"/>
          </a:solidFill>
          <a:ln w="22860">
            <a:solidFill>
              <a:srgbClr val="C0CDD7"/>
            </a:solidFill>
          </a:ln>
        </p:spPr>
        <p:txBody>
          <a:bodyPr lIns="45718" tIns="45718" rIns="45718" bIns="45718"/>
          <a:lstStyle/>
          <a:p>
            <a:pPr>
              <a:defRPr>
                <a:latin typeface="+mj-lt"/>
                <a:ea typeface="+mj-ea"/>
                <a:cs typeface="+mj-cs"/>
                <a:sym typeface="Calibri"/>
              </a:defRPr>
            </a:pPr>
          </a:p>
        </p:txBody>
      </p:sp>
      <p:sp>
        <p:nvSpPr>
          <p:cNvPr id="327" name="Text 13"/>
          <p:cNvSpPr txBox="1"/>
          <p:nvPr/>
        </p:nvSpPr>
        <p:spPr>
          <a:xfrm>
            <a:off x="9986367" y="2230634"/>
            <a:ext cx="3093784" cy="2674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900"/>
              </a:lnSpc>
              <a:defRPr sz="1500">
                <a:latin typeface="Martel Sans"/>
                <a:ea typeface="Martel Sans"/>
                <a:cs typeface="Martel Sans"/>
                <a:sym typeface="Martel Sans"/>
              </a:defRPr>
            </a:pPr>
            <a:r>
              <a:t>🏥</a:t>
            </a:r>
            <a:r>
              <a:rPr>
                <a:solidFill>
                  <a:srgbClr val="383F5B"/>
                </a:solidFill>
              </a:rPr>
              <a:t> Enterprise — Per-Seat Licensing</a:t>
            </a:r>
          </a:p>
        </p:txBody>
      </p:sp>
      <p:sp>
        <p:nvSpPr>
          <p:cNvPr id="328" name="Text 14"/>
          <p:cNvSpPr txBox="1"/>
          <p:nvPr/>
        </p:nvSpPr>
        <p:spPr>
          <a:xfrm>
            <a:off x="9986367" y="2620684"/>
            <a:ext cx="3698679" cy="639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Home health agencies and hospital discharge programs. Admin dashboard, HIPAA-ready, bulk licensing, clinical outcome analytics.</a:t>
            </a:r>
          </a:p>
        </p:txBody>
      </p:sp>
      <p:sp>
        <p:nvSpPr>
          <p:cNvPr id="329" name="Text 15"/>
          <p:cNvSpPr txBox="1"/>
          <p:nvPr/>
        </p:nvSpPr>
        <p:spPr>
          <a:xfrm>
            <a:off x="9986367" y="3401852"/>
            <a:ext cx="3698679" cy="3463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900">
                <a:solidFill>
                  <a:srgbClr val="383F5B"/>
                </a:solidFill>
                <a:latin typeface="Martel Sans Light"/>
                <a:ea typeface="Martel Sans Light"/>
                <a:cs typeface="Martel Sans Light"/>
                <a:sym typeface="Martel Sans Light"/>
              </a:defRPr>
            </a:pPr>
            <a:r>
              <a:t>Target: 50 accounts × 20 seats × $25/seat/month = </a:t>
            </a:r>
            <a:r>
              <a:rPr b="1"/>
              <a:t>$25,000 MRR by Year 3.</a:t>
            </a:r>
          </a:p>
        </p:txBody>
      </p:sp>
      <p:sp>
        <p:nvSpPr>
          <p:cNvPr id="330" name="Shape 16"/>
          <p:cNvSpPr/>
          <p:nvPr/>
        </p:nvSpPr>
        <p:spPr>
          <a:xfrm>
            <a:off x="781406" y="4625537"/>
            <a:ext cx="13067587" cy="12702"/>
          </a:xfrm>
          <a:prstGeom prst="rect">
            <a:avLst/>
          </a:prstGeom>
          <a:solidFill>
            <a:srgbClr val="383F5B">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331" name="Text 17"/>
          <p:cNvSpPr txBox="1"/>
          <p:nvPr/>
        </p:nvSpPr>
        <p:spPr>
          <a:xfrm>
            <a:off x="3495064" y="4893350"/>
            <a:ext cx="1029445"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15%</a:t>
            </a:r>
          </a:p>
        </p:txBody>
      </p:sp>
      <p:sp>
        <p:nvSpPr>
          <p:cNvPr id="332" name="Text 18"/>
          <p:cNvSpPr txBox="1"/>
          <p:nvPr/>
        </p:nvSpPr>
        <p:spPr>
          <a:xfrm>
            <a:off x="3066576" y="5579507"/>
            <a:ext cx="1886541"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Freemium Conversion</a:t>
            </a:r>
          </a:p>
        </p:txBody>
      </p:sp>
      <p:sp>
        <p:nvSpPr>
          <p:cNvPr id="333" name="Text 19"/>
          <p:cNvSpPr txBox="1"/>
          <p:nvPr/>
        </p:nvSpPr>
        <p:spPr>
          <a:xfrm>
            <a:off x="1381776" y="5897522"/>
            <a:ext cx="5256139"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vs. industry benchmark of 8–12%; caregiver urgency drives higher conversion</a:t>
            </a:r>
          </a:p>
        </p:txBody>
      </p:sp>
      <p:sp>
        <p:nvSpPr>
          <p:cNvPr id="334" name="Text 20"/>
          <p:cNvSpPr txBox="1"/>
          <p:nvPr/>
        </p:nvSpPr>
        <p:spPr>
          <a:xfrm>
            <a:off x="10049092" y="4893350"/>
            <a:ext cx="1142803"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$539</a:t>
            </a:r>
          </a:p>
        </p:txBody>
      </p:sp>
      <p:sp>
        <p:nvSpPr>
          <p:cNvPr id="335" name="Text 21"/>
          <p:cNvSpPr txBox="1"/>
          <p:nvPr/>
        </p:nvSpPr>
        <p:spPr>
          <a:xfrm>
            <a:off x="10142929" y="5579507"/>
            <a:ext cx="955248"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3-Year LTV</a:t>
            </a:r>
          </a:p>
        </p:txBody>
      </p:sp>
      <p:sp>
        <p:nvSpPr>
          <p:cNvPr id="336" name="Text 22"/>
          <p:cNvSpPr txBox="1"/>
          <p:nvPr/>
        </p:nvSpPr>
        <p:spPr>
          <a:xfrm>
            <a:off x="9057757" y="5897522"/>
            <a:ext cx="3125591"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Per premium subscriber ($14.99 × 36 months)</a:t>
            </a:r>
          </a:p>
        </p:txBody>
      </p:sp>
      <p:sp>
        <p:nvSpPr>
          <p:cNvPr id="337" name="Text 23"/>
          <p:cNvSpPr txBox="1"/>
          <p:nvPr/>
        </p:nvSpPr>
        <p:spPr>
          <a:xfrm>
            <a:off x="3360994" y="6445210"/>
            <a:ext cx="1297584"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&lt;6mo</a:t>
            </a:r>
          </a:p>
        </p:txBody>
      </p:sp>
      <p:sp>
        <p:nvSpPr>
          <p:cNvPr id="338" name="Text 24"/>
          <p:cNvSpPr txBox="1"/>
          <p:nvPr/>
        </p:nvSpPr>
        <p:spPr>
          <a:xfrm>
            <a:off x="3410601" y="7131367"/>
            <a:ext cx="1198490"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CAC Payback</a:t>
            </a:r>
          </a:p>
        </p:txBody>
      </p:sp>
      <p:sp>
        <p:nvSpPr>
          <p:cNvPr id="339" name="Text 25"/>
          <p:cNvSpPr txBox="1"/>
          <p:nvPr/>
        </p:nvSpPr>
        <p:spPr>
          <a:xfrm>
            <a:off x="1470776" y="7449383"/>
            <a:ext cx="5078140"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Caregiver Facebook communities, hospital discharge desks, senior centers</a:t>
            </a:r>
          </a:p>
        </p:txBody>
      </p:sp>
      <p:sp>
        <p:nvSpPr>
          <p:cNvPr id="340" name="Text 26"/>
          <p:cNvSpPr txBox="1"/>
          <p:nvPr/>
        </p:nvSpPr>
        <p:spPr>
          <a:xfrm>
            <a:off x="9957438" y="6445210"/>
            <a:ext cx="1326109"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~85%</a:t>
            </a:r>
          </a:p>
        </p:txBody>
      </p:sp>
      <p:sp>
        <p:nvSpPr>
          <p:cNvPr id="341" name="Text 27"/>
          <p:cNvSpPr txBox="1"/>
          <p:nvPr/>
        </p:nvSpPr>
        <p:spPr>
          <a:xfrm>
            <a:off x="10042563" y="7131367"/>
            <a:ext cx="1155980"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Gross Margin</a:t>
            </a:r>
          </a:p>
        </p:txBody>
      </p:sp>
      <p:sp>
        <p:nvSpPr>
          <p:cNvPr id="342" name="Text 28"/>
          <p:cNvSpPr txBox="1"/>
          <p:nvPr/>
        </p:nvSpPr>
        <p:spPr>
          <a:xfrm>
            <a:off x="9546918" y="7449383"/>
            <a:ext cx="2147269"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Scalable software infrastructure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Text 0"/>
          <p:cNvSpPr txBox="1"/>
          <p:nvPr/>
        </p:nvSpPr>
        <p:spPr>
          <a:xfrm>
            <a:off x="793790" y="612218"/>
            <a:ext cx="3224691" cy="53910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500">
                <a:solidFill>
                  <a:srgbClr val="272D45"/>
                </a:solidFill>
                <a:latin typeface="Martel Sans"/>
                <a:ea typeface="Martel Sans"/>
                <a:cs typeface="Martel Sans"/>
                <a:sym typeface="Martel Sans"/>
              </a:defRPr>
            </a:lvl1pPr>
          </a:lstStyle>
          <a:p>
            <a:pPr/>
            <a:r>
              <a:t>Traction &amp; Team</a:t>
            </a:r>
          </a:p>
        </p:txBody>
      </p:sp>
      <p:sp>
        <p:nvSpPr>
          <p:cNvPr id="345" name="Text 1"/>
          <p:cNvSpPr txBox="1"/>
          <p:nvPr/>
        </p:nvSpPr>
        <p:spPr>
          <a:xfrm>
            <a:off x="793789" y="1336119"/>
            <a:ext cx="5985323" cy="1976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200">
                <a:solidFill>
                  <a:srgbClr val="383F5B"/>
                </a:solidFill>
                <a:latin typeface="Martel Sans Light"/>
                <a:ea typeface="Martel Sans Light"/>
                <a:cs typeface="Martel Sans Light"/>
                <a:sym typeface="Martel Sans Light"/>
              </a:defRPr>
            </a:lvl1pPr>
          </a:lstStyle>
          <a:p>
            <a:pPr/>
            <a:r>
              <a:t>Building toward Series A with proven technical execution and a clear 18-month roadmap.</a:t>
            </a:r>
          </a:p>
        </p:txBody>
      </p:sp>
      <p:sp>
        <p:nvSpPr>
          <p:cNvPr id="346" name="Text 2"/>
          <p:cNvSpPr txBox="1"/>
          <p:nvPr/>
        </p:nvSpPr>
        <p:spPr>
          <a:xfrm>
            <a:off x="793790" y="1727000"/>
            <a:ext cx="1378664"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Current Traction</a:t>
            </a:r>
          </a:p>
        </p:txBody>
      </p:sp>
      <p:pic>
        <p:nvPicPr>
          <p:cNvPr id="347" name="Image 0" descr="Image 0"/>
          <p:cNvPicPr>
            <a:picLocks noChangeAspect="1"/>
          </p:cNvPicPr>
          <p:nvPr/>
        </p:nvPicPr>
        <p:blipFill>
          <a:blip r:embed="rId2">
            <a:extLst/>
          </a:blip>
          <a:stretch>
            <a:fillRect/>
          </a:stretch>
        </p:blipFill>
        <p:spPr>
          <a:xfrm>
            <a:off x="842129" y="2069483"/>
            <a:ext cx="193479" cy="193479"/>
          </a:xfrm>
          <a:prstGeom prst="rect">
            <a:avLst/>
          </a:prstGeom>
          <a:ln w="12700">
            <a:miter lim="400000"/>
          </a:ln>
        </p:spPr>
      </p:pic>
      <p:sp>
        <p:nvSpPr>
          <p:cNvPr id="348" name="Text 3"/>
          <p:cNvSpPr txBox="1"/>
          <p:nvPr/>
        </p:nvSpPr>
        <p:spPr>
          <a:xfrm>
            <a:off x="1212890" y="2063113"/>
            <a:ext cx="3136045"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Working voice AI app with end-to-end clinical pipeline</a:t>
            </a:r>
          </a:p>
        </p:txBody>
      </p:sp>
      <p:pic>
        <p:nvPicPr>
          <p:cNvPr id="349" name="Image 1" descr="Image 1"/>
          <p:cNvPicPr>
            <a:picLocks noChangeAspect="1"/>
          </p:cNvPicPr>
          <p:nvPr/>
        </p:nvPicPr>
        <p:blipFill>
          <a:blip r:embed="rId2">
            <a:extLst/>
          </a:blip>
          <a:stretch>
            <a:fillRect/>
          </a:stretch>
        </p:blipFill>
        <p:spPr>
          <a:xfrm>
            <a:off x="842129" y="2630388"/>
            <a:ext cx="193479" cy="193479"/>
          </a:xfrm>
          <a:prstGeom prst="rect">
            <a:avLst/>
          </a:prstGeom>
          <a:ln w="12700">
            <a:miter lim="400000"/>
          </a:ln>
        </p:spPr>
      </p:pic>
      <p:sp>
        <p:nvSpPr>
          <p:cNvPr id="350" name="Text 4"/>
          <p:cNvSpPr txBox="1"/>
          <p:nvPr/>
        </p:nvSpPr>
        <p:spPr>
          <a:xfrm>
            <a:off x="1212890" y="2624016"/>
            <a:ext cx="2714737"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App Store submission preparation in progress</a:t>
            </a:r>
          </a:p>
        </p:txBody>
      </p:sp>
      <p:pic>
        <p:nvPicPr>
          <p:cNvPr id="351" name="Image 2" descr="Image 2"/>
          <p:cNvPicPr>
            <a:picLocks noChangeAspect="1"/>
          </p:cNvPicPr>
          <p:nvPr/>
        </p:nvPicPr>
        <p:blipFill>
          <a:blip r:embed="rId2">
            <a:extLst/>
          </a:blip>
          <a:stretch>
            <a:fillRect/>
          </a:stretch>
        </p:blipFill>
        <p:spPr>
          <a:xfrm>
            <a:off x="842129" y="3191292"/>
            <a:ext cx="193479" cy="193479"/>
          </a:xfrm>
          <a:prstGeom prst="rect">
            <a:avLst/>
          </a:prstGeom>
          <a:ln w="12700">
            <a:miter lim="400000"/>
          </a:ln>
        </p:spPr>
      </p:pic>
      <p:sp>
        <p:nvSpPr>
          <p:cNvPr id="352" name="Text 5"/>
          <p:cNvSpPr txBox="1"/>
          <p:nvPr/>
        </p:nvSpPr>
        <p:spPr>
          <a:xfrm>
            <a:off x="1212889" y="3184922"/>
            <a:ext cx="2698057"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Viktron Health Delaware C-Corp incorporated</a:t>
            </a:r>
          </a:p>
        </p:txBody>
      </p:sp>
      <p:pic>
        <p:nvPicPr>
          <p:cNvPr id="353" name="Image 3" descr="Image 3"/>
          <p:cNvPicPr>
            <a:picLocks noChangeAspect="1"/>
          </p:cNvPicPr>
          <p:nvPr/>
        </p:nvPicPr>
        <p:blipFill>
          <a:blip r:embed="rId2">
            <a:extLst/>
          </a:blip>
          <a:stretch>
            <a:fillRect/>
          </a:stretch>
        </p:blipFill>
        <p:spPr>
          <a:xfrm>
            <a:off x="842129" y="3752195"/>
            <a:ext cx="193479" cy="193477"/>
          </a:xfrm>
          <a:prstGeom prst="rect">
            <a:avLst/>
          </a:prstGeom>
          <a:ln w="12700">
            <a:miter lim="400000"/>
          </a:ln>
        </p:spPr>
      </p:pic>
      <p:sp>
        <p:nvSpPr>
          <p:cNvPr id="354" name="Text 6"/>
          <p:cNvSpPr txBox="1"/>
          <p:nvPr/>
        </p:nvSpPr>
        <p:spPr>
          <a:xfrm>
            <a:off x="1212889" y="3745824"/>
            <a:ext cx="3576019"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15–20 structured beta recruits identified through care centers</a:t>
            </a:r>
          </a:p>
        </p:txBody>
      </p:sp>
      <p:pic>
        <p:nvPicPr>
          <p:cNvPr id="355" name="Image 4" descr="Image 4"/>
          <p:cNvPicPr>
            <a:picLocks noChangeAspect="1"/>
          </p:cNvPicPr>
          <p:nvPr/>
        </p:nvPicPr>
        <p:blipFill>
          <a:blip r:embed="rId2">
            <a:extLst/>
          </a:blip>
          <a:stretch>
            <a:fillRect/>
          </a:stretch>
        </p:blipFill>
        <p:spPr>
          <a:xfrm>
            <a:off x="842129" y="4313099"/>
            <a:ext cx="193479" cy="193479"/>
          </a:xfrm>
          <a:prstGeom prst="rect">
            <a:avLst/>
          </a:prstGeom>
          <a:ln w="12700">
            <a:miter lim="400000"/>
          </a:ln>
        </p:spPr>
      </p:pic>
      <p:sp>
        <p:nvSpPr>
          <p:cNvPr id="356" name="Text 7"/>
          <p:cNvSpPr txBox="1"/>
          <p:nvPr/>
        </p:nvSpPr>
        <p:spPr>
          <a:xfrm>
            <a:off x="1212889" y="4306727"/>
            <a:ext cx="5274520"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Patent pending: cognitive augmentation system for memory-impaired patient care (USPTO)</a:t>
            </a:r>
          </a:p>
        </p:txBody>
      </p:sp>
      <p:pic>
        <p:nvPicPr>
          <p:cNvPr id="357" name="Image 5" descr="Image 5"/>
          <p:cNvPicPr>
            <a:picLocks noChangeAspect="1"/>
          </p:cNvPicPr>
          <p:nvPr/>
        </p:nvPicPr>
        <p:blipFill>
          <a:blip r:embed="rId2">
            <a:extLst/>
          </a:blip>
          <a:stretch>
            <a:fillRect/>
          </a:stretch>
        </p:blipFill>
        <p:spPr>
          <a:xfrm>
            <a:off x="842129" y="4874002"/>
            <a:ext cx="193479" cy="193479"/>
          </a:xfrm>
          <a:prstGeom prst="rect">
            <a:avLst/>
          </a:prstGeom>
          <a:ln w="12700">
            <a:miter lim="400000"/>
          </a:ln>
        </p:spPr>
      </p:pic>
      <p:sp>
        <p:nvSpPr>
          <p:cNvPr id="358" name="Text 8"/>
          <p:cNvSpPr txBox="1"/>
          <p:nvPr/>
        </p:nvSpPr>
        <p:spPr>
          <a:xfrm>
            <a:off x="1212890" y="4867631"/>
            <a:ext cx="5058284"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AuraPath smart glasses hardware prototype complete (MLX face recognition functional)</a:t>
            </a:r>
          </a:p>
        </p:txBody>
      </p:sp>
      <p:sp>
        <p:nvSpPr>
          <p:cNvPr id="359" name="Shape 9"/>
          <p:cNvSpPr/>
          <p:nvPr/>
        </p:nvSpPr>
        <p:spPr>
          <a:xfrm>
            <a:off x="793790" y="5385811"/>
            <a:ext cx="6631186" cy="12702"/>
          </a:xfrm>
          <a:prstGeom prst="rect">
            <a:avLst/>
          </a:prstGeom>
          <a:solidFill>
            <a:srgbClr val="383F5B">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360" name="Text 10"/>
          <p:cNvSpPr txBox="1"/>
          <p:nvPr/>
        </p:nvSpPr>
        <p:spPr>
          <a:xfrm>
            <a:off x="793789" y="5523426"/>
            <a:ext cx="3411749"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The Team — Vikash V | Founder &amp; CEO</a:t>
            </a:r>
          </a:p>
        </p:txBody>
      </p:sp>
      <p:sp>
        <p:nvSpPr>
          <p:cNvPr id="361" name="Shape 11"/>
          <p:cNvSpPr/>
          <p:nvPr/>
        </p:nvSpPr>
        <p:spPr>
          <a:xfrm>
            <a:off x="793790" y="5859541"/>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62" name="Text 12"/>
          <p:cNvSpPr txBox="1"/>
          <p:nvPr/>
        </p:nvSpPr>
        <p:spPr>
          <a:xfrm>
            <a:off x="1167763" y="5901452"/>
            <a:ext cx="5656326"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10+ years as AI Architect: LLM orchestration, RAG pipelines, multi-agent systems at enterprise scale</a:t>
            </a:r>
          </a:p>
        </p:txBody>
      </p:sp>
      <p:sp>
        <p:nvSpPr>
          <p:cNvPr id="363" name="Shape 13"/>
          <p:cNvSpPr/>
          <p:nvPr/>
        </p:nvSpPr>
        <p:spPr>
          <a:xfrm>
            <a:off x="793790" y="6317336"/>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64" name="Text 14"/>
          <p:cNvSpPr txBox="1"/>
          <p:nvPr/>
        </p:nvSpPr>
        <p:spPr>
          <a:xfrm>
            <a:off x="1167764" y="6359247"/>
            <a:ext cx="5410449"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Patent inventor: cognitive augmentation system for memory-impaired patients (USPTO pending)</a:t>
            </a:r>
          </a:p>
        </p:txBody>
      </p:sp>
      <p:sp>
        <p:nvSpPr>
          <p:cNvPr id="365" name="Shape 15"/>
          <p:cNvSpPr/>
          <p:nvPr/>
        </p:nvSpPr>
        <p:spPr>
          <a:xfrm>
            <a:off x="793790" y="6775132"/>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66" name="Text 16"/>
          <p:cNvSpPr txBox="1"/>
          <p:nvPr/>
        </p:nvSpPr>
        <p:spPr>
          <a:xfrm>
            <a:off x="1167763" y="6817042"/>
            <a:ext cx="5378389"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Built AuraPath prototype and AuraGuide app entirely solo — technical execution already proven</a:t>
            </a:r>
          </a:p>
        </p:txBody>
      </p:sp>
      <p:sp>
        <p:nvSpPr>
          <p:cNvPr id="367" name="Shape 17"/>
          <p:cNvSpPr/>
          <p:nvPr/>
        </p:nvSpPr>
        <p:spPr>
          <a:xfrm>
            <a:off x="793790" y="7232928"/>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68" name="Text 18"/>
          <p:cNvSpPr txBox="1"/>
          <p:nvPr/>
        </p:nvSpPr>
        <p:spPr>
          <a:xfrm>
            <a:off x="1167764" y="7274838"/>
            <a:ext cx="4205933"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Enterprise AI delivery across GCP, Azure, and AWS for Fortune 500 clients</a:t>
            </a:r>
          </a:p>
        </p:txBody>
      </p:sp>
      <p:sp>
        <p:nvSpPr>
          <p:cNvPr id="369" name="Text 19"/>
          <p:cNvSpPr txBox="1"/>
          <p:nvPr/>
        </p:nvSpPr>
        <p:spPr>
          <a:xfrm>
            <a:off x="7747158" y="1727000"/>
            <a:ext cx="1696412"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18-Month Roadmap</a:t>
            </a:r>
          </a:p>
        </p:txBody>
      </p:sp>
      <p:sp>
        <p:nvSpPr>
          <p:cNvPr id="370" name="Shape 20"/>
          <p:cNvSpPr/>
          <p:nvPr/>
        </p:nvSpPr>
        <p:spPr>
          <a:xfrm>
            <a:off x="10788015" y="2063113"/>
            <a:ext cx="15242" cy="3003950"/>
          </a:xfrm>
          <a:prstGeom prst="roundRect">
            <a:avLst>
              <a:gd name="adj" fmla="val 50000"/>
            </a:avLst>
          </a:prstGeom>
          <a:solidFill>
            <a:srgbClr val="C0CDD7"/>
          </a:solidFill>
          <a:ln w="12700">
            <a:miter lim="400000"/>
          </a:ln>
        </p:spPr>
        <p:txBody>
          <a:bodyPr lIns="45718" tIns="45718" rIns="45718" bIns="45718"/>
          <a:lstStyle/>
          <a:p>
            <a:pPr>
              <a:defRPr>
                <a:latin typeface="+mj-lt"/>
                <a:ea typeface="+mj-ea"/>
                <a:cs typeface="+mj-cs"/>
                <a:sym typeface="Calibri"/>
              </a:defRPr>
            </a:pPr>
          </a:p>
        </p:txBody>
      </p:sp>
      <p:sp>
        <p:nvSpPr>
          <p:cNvPr id="371" name="Shape 21"/>
          <p:cNvSpPr/>
          <p:nvPr/>
        </p:nvSpPr>
        <p:spPr>
          <a:xfrm>
            <a:off x="10278843" y="2200512"/>
            <a:ext cx="386955" cy="15242"/>
          </a:xfrm>
          <a:prstGeom prst="roundRect">
            <a:avLst>
              <a:gd name="adj" fmla="val 50000"/>
            </a:avLst>
          </a:prstGeom>
          <a:solidFill>
            <a:srgbClr val="C0CDD7"/>
          </a:solidFill>
          <a:ln w="12700">
            <a:miter lim="400000"/>
          </a:ln>
        </p:spPr>
        <p:txBody>
          <a:bodyPr lIns="45718" tIns="45718" rIns="45718" bIns="45718"/>
          <a:lstStyle/>
          <a:p>
            <a:pPr>
              <a:defRPr>
                <a:latin typeface="+mj-lt"/>
                <a:ea typeface="+mj-ea"/>
                <a:cs typeface="+mj-cs"/>
                <a:sym typeface="Calibri"/>
              </a:defRPr>
            </a:pPr>
          </a:p>
        </p:txBody>
      </p:sp>
      <p:sp>
        <p:nvSpPr>
          <p:cNvPr id="372" name="Shape 22"/>
          <p:cNvSpPr/>
          <p:nvPr/>
        </p:nvSpPr>
        <p:spPr>
          <a:xfrm>
            <a:off x="10650556" y="2063113"/>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73" name="Text 23"/>
          <p:cNvSpPr txBox="1"/>
          <p:nvPr/>
        </p:nvSpPr>
        <p:spPr>
          <a:xfrm>
            <a:off x="10732075" y="2110027"/>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1</a:t>
            </a:r>
          </a:p>
        </p:txBody>
      </p:sp>
      <p:sp>
        <p:nvSpPr>
          <p:cNvPr id="374" name="Text 24"/>
          <p:cNvSpPr txBox="1"/>
          <p:nvPr/>
        </p:nvSpPr>
        <p:spPr>
          <a:xfrm>
            <a:off x="8816230" y="2107406"/>
            <a:ext cx="1334444"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1500"/>
              </a:lnSpc>
              <a:defRPr sz="1200">
                <a:solidFill>
                  <a:srgbClr val="383F5B"/>
                </a:solidFill>
                <a:latin typeface="Martel Sans"/>
                <a:ea typeface="Martel Sans"/>
                <a:cs typeface="Martel Sans"/>
                <a:sym typeface="Martel Sans"/>
              </a:defRPr>
            </a:lvl1pPr>
          </a:lstStyle>
          <a:p>
            <a:pPr/>
            <a:r>
              <a:t>Q2 2026 — Launch</a:t>
            </a:r>
          </a:p>
        </p:txBody>
      </p:sp>
      <p:sp>
        <p:nvSpPr>
          <p:cNvPr id="375" name="Text 25"/>
          <p:cNvSpPr txBox="1"/>
          <p:nvPr/>
        </p:nvSpPr>
        <p:spPr>
          <a:xfrm>
            <a:off x="7747159" y="2392678"/>
            <a:ext cx="2403515" cy="6565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1300"/>
              </a:lnSpc>
              <a:defRPr sz="1000">
                <a:solidFill>
                  <a:srgbClr val="383F5B"/>
                </a:solidFill>
                <a:latin typeface="Martel Sans Light"/>
                <a:ea typeface="Martel Sans Light"/>
                <a:cs typeface="Martel Sans Light"/>
                <a:sym typeface="Martel Sans Light"/>
              </a:defRPr>
            </a:lvl1pPr>
          </a:lstStyle>
          <a:p>
            <a:pPr/>
            <a:r>
              <a:t>App Store release iOS &amp; Android. 15–20 person structured beta. Partnership MOUs with 2 local care centers. Clinical accuracy validation loop.</a:t>
            </a:r>
          </a:p>
        </p:txBody>
      </p:sp>
      <p:sp>
        <p:nvSpPr>
          <p:cNvPr id="376" name="Shape 26"/>
          <p:cNvSpPr/>
          <p:nvPr/>
        </p:nvSpPr>
        <p:spPr>
          <a:xfrm>
            <a:off x="10925471" y="2884170"/>
            <a:ext cx="386955" cy="15242"/>
          </a:xfrm>
          <a:prstGeom prst="roundRect">
            <a:avLst>
              <a:gd name="adj" fmla="val 50000"/>
            </a:avLst>
          </a:prstGeom>
          <a:solidFill>
            <a:srgbClr val="C0CDD7"/>
          </a:solidFill>
          <a:ln w="12700">
            <a:miter lim="400000"/>
          </a:ln>
        </p:spPr>
        <p:txBody>
          <a:bodyPr lIns="45718" tIns="45718" rIns="45718" bIns="45718"/>
          <a:lstStyle/>
          <a:p>
            <a:pPr>
              <a:defRPr>
                <a:latin typeface="+mj-lt"/>
                <a:ea typeface="+mj-ea"/>
                <a:cs typeface="+mj-cs"/>
                <a:sym typeface="Calibri"/>
              </a:defRPr>
            </a:pPr>
          </a:p>
        </p:txBody>
      </p:sp>
      <p:sp>
        <p:nvSpPr>
          <p:cNvPr id="377" name="Shape 27"/>
          <p:cNvSpPr/>
          <p:nvPr/>
        </p:nvSpPr>
        <p:spPr>
          <a:xfrm>
            <a:off x="10650556" y="2746772"/>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78" name="Text 28"/>
          <p:cNvSpPr txBox="1"/>
          <p:nvPr/>
        </p:nvSpPr>
        <p:spPr>
          <a:xfrm>
            <a:off x="10732075" y="2793683"/>
            <a:ext cx="127001" cy="1962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2</a:t>
            </a:r>
          </a:p>
        </p:txBody>
      </p:sp>
      <p:sp>
        <p:nvSpPr>
          <p:cNvPr id="379" name="Text 29"/>
          <p:cNvSpPr txBox="1"/>
          <p:nvPr/>
        </p:nvSpPr>
        <p:spPr>
          <a:xfrm>
            <a:off x="11440596" y="2791061"/>
            <a:ext cx="1486620" cy="18745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Q3–Q4 2026 — Grow</a:t>
            </a:r>
          </a:p>
        </p:txBody>
      </p:sp>
      <p:sp>
        <p:nvSpPr>
          <p:cNvPr id="380" name="Text 30"/>
          <p:cNvSpPr txBox="1"/>
          <p:nvPr/>
        </p:nvSpPr>
        <p:spPr>
          <a:xfrm>
            <a:off x="11440597" y="3076337"/>
            <a:ext cx="2403515" cy="4914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Premium tier activation. 100+ monthly active users. Voice AI clinical refinement. First enterprise inbound conversations.</a:t>
            </a:r>
          </a:p>
        </p:txBody>
      </p:sp>
      <p:sp>
        <p:nvSpPr>
          <p:cNvPr id="381" name="Shape 31"/>
          <p:cNvSpPr/>
          <p:nvPr/>
        </p:nvSpPr>
        <p:spPr>
          <a:xfrm>
            <a:off x="10278843" y="3506153"/>
            <a:ext cx="386955" cy="15242"/>
          </a:xfrm>
          <a:prstGeom prst="roundRect">
            <a:avLst>
              <a:gd name="adj" fmla="val 50000"/>
            </a:avLst>
          </a:prstGeom>
          <a:solidFill>
            <a:srgbClr val="C0CDD7"/>
          </a:solidFill>
          <a:ln w="12700">
            <a:miter lim="400000"/>
          </a:ln>
        </p:spPr>
        <p:txBody>
          <a:bodyPr lIns="45718" tIns="45718" rIns="45718" bIns="45718"/>
          <a:lstStyle/>
          <a:p>
            <a:pPr>
              <a:defRPr>
                <a:latin typeface="+mj-lt"/>
                <a:ea typeface="+mj-ea"/>
                <a:cs typeface="+mj-cs"/>
                <a:sym typeface="Calibri"/>
              </a:defRPr>
            </a:pPr>
          </a:p>
        </p:txBody>
      </p:sp>
      <p:sp>
        <p:nvSpPr>
          <p:cNvPr id="382" name="Shape 32"/>
          <p:cNvSpPr/>
          <p:nvPr/>
        </p:nvSpPr>
        <p:spPr>
          <a:xfrm>
            <a:off x="10650556" y="3368754"/>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83" name="Text 33"/>
          <p:cNvSpPr txBox="1"/>
          <p:nvPr/>
        </p:nvSpPr>
        <p:spPr>
          <a:xfrm>
            <a:off x="10732075" y="3415667"/>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3</a:t>
            </a:r>
          </a:p>
        </p:txBody>
      </p:sp>
      <p:sp>
        <p:nvSpPr>
          <p:cNvPr id="384" name="Text 34"/>
          <p:cNvSpPr txBox="1"/>
          <p:nvPr/>
        </p:nvSpPr>
        <p:spPr>
          <a:xfrm>
            <a:off x="8934995" y="3413045"/>
            <a:ext cx="1215679"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1500"/>
              </a:lnSpc>
              <a:defRPr sz="1200">
                <a:solidFill>
                  <a:srgbClr val="383F5B"/>
                </a:solidFill>
                <a:latin typeface="Martel Sans"/>
                <a:ea typeface="Martel Sans"/>
                <a:cs typeface="Martel Sans"/>
                <a:sym typeface="Martel Sans"/>
              </a:defRPr>
            </a:lvl1pPr>
          </a:lstStyle>
          <a:p>
            <a:pPr/>
            <a:r>
              <a:t>Q1 2027 — Scale</a:t>
            </a:r>
          </a:p>
        </p:txBody>
      </p:sp>
      <p:sp>
        <p:nvSpPr>
          <p:cNvPr id="385" name="Text 35"/>
          <p:cNvSpPr txBox="1"/>
          <p:nvPr/>
        </p:nvSpPr>
        <p:spPr>
          <a:xfrm>
            <a:off x="7747159" y="3698318"/>
            <a:ext cx="2403515" cy="6565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1300"/>
              </a:lnSpc>
              <a:defRPr sz="1000">
                <a:solidFill>
                  <a:srgbClr val="383F5B"/>
                </a:solidFill>
                <a:latin typeface="Martel Sans Light"/>
                <a:ea typeface="Martel Sans Light"/>
                <a:cs typeface="Martel Sans Light"/>
                <a:sym typeface="Martel Sans Light"/>
              </a:defRPr>
            </a:lvl1pPr>
          </a:lstStyle>
          <a:p>
            <a:pPr/>
            <a:r>
              <a:t>First enterprise pilot with home health agency. Multi-language expansion (Spanish, Mandarin, Hindi). Series A preparation begins.</a:t>
            </a:r>
          </a:p>
        </p:txBody>
      </p:sp>
      <p:sp>
        <p:nvSpPr>
          <p:cNvPr id="386" name="Shape 36"/>
          <p:cNvSpPr/>
          <p:nvPr/>
        </p:nvSpPr>
        <p:spPr>
          <a:xfrm>
            <a:off x="10925471" y="4128134"/>
            <a:ext cx="386955" cy="15242"/>
          </a:xfrm>
          <a:prstGeom prst="roundRect">
            <a:avLst>
              <a:gd name="adj" fmla="val 50000"/>
            </a:avLst>
          </a:prstGeom>
          <a:solidFill>
            <a:srgbClr val="C0CDD7"/>
          </a:solidFill>
          <a:ln w="12700">
            <a:miter lim="400000"/>
          </a:ln>
        </p:spPr>
        <p:txBody>
          <a:bodyPr lIns="45718" tIns="45718" rIns="45718" bIns="45718"/>
          <a:lstStyle/>
          <a:p>
            <a:pPr>
              <a:defRPr>
                <a:latin typeface="+mj-lt"/>
                <a:ea typeface="+mj-ea"/>
                <a:cs typeface="+mj-cs"/>
                <a:sym typeface="Calibri"/>
              </a:defRPr>
            </a:pPr>
          </a:p>
        </p:txBody>
      </p:sp>
      <p:sp>
        <p:nvSpPr>
          <p:cNvPr id="387" name="Shape 37"/>
          <p:cNvSpPr/>
          <p:nvPr/>
        </p:nvSpPr>
        <p:spPr>
          <a:xfrm>
            <a:off x="10650556" y="3990737"/>
            <a:ext cx="290157" cy="290157"/>
          </a:xfrm>
          <a:prstGeom prst="roundRect">
            <a:avLst>
              <a:gd name="adj" fmla="val 18674"/>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388" name="Text 38"/>
          <p:cNvSpPr txBox="1"/>
          <p:nvPr/>
        </p:nvSpPr>
        <p:spPr>
          <a:xfrm>
            <a:off x="10732075" y="4037648"/>
            <a:ext cx="127001" cy="1962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4</a:t>
            </a:r>
          </a:p>
        </p:txBody>
      </p:sp>
      <p:sp>
        <p:nvSpPr>
          <p:cNvPr id="389" name="Text 39"/>
          <p:cNvSpPr txBox="1"/>
          <p:nvPr/>
        </p:nvSpPr>
        <p:spPr>
          <a:xfrm>
            <a:off x="11440597" y="4035028"/>
            <a:ext cx="1639392"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Q2–Q3 2027 — Expand</a:t>
            </a:r>
          </a:p>
        </p:txBody>
      </p:sp>
      <p:sp>
        <p:nvSpPr>
          <p:cNvPr id="390" name="Text 40"/>
          <p:cNvSpPr txBox="1"/>
          <p:nvPr/>
        </p:nvSpPr>
        <p:spPr>
          <a:xfrm>
            <a:off x="11440597" y="4320302"/>
            <a:ext cx="2403515" cy="4914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Active B2B revenue. 1,000+ active users. HIPAA certification complete. Series A close target $3–5M.</a:t>
            </a:r>
          </a:p>
        </p:txBody>
      </p:sp>
      <p:sp>
        <p:nvSpPr>
          <p:cNvPr id="391" name="Text 41"/>
          <p:cNvSpPr txBox="1"/>
          <p:nvPr/>
        </p:nvSpPr>
        <p:spPr>
          <a:xfrm>
            <a:off x="7747158" y="5161357"/>
            <a:ext cx="2178447"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272D45"/>
                </a:solidFill>
                <a:latin typeface="Martel Sans"/>
                <a:ea typeface="Martel Sans"/>
                <a:cs typeface="Martel Sans"/>
                <a:sym typeface="Martel Sans"/>
              </a:defRPr>
            </a:lvl1pPr>
          </a:lstStyle>
          <a:p>
            <a:pPr/>
            <a:r>
              <a:t>Planned Hires With This Round:</a:t>
            </a:r>
          </a:p>
        </p:txBody>
      </p:sp>
      <p:sp>
        <p:nvSpPr>
          <p:cNvPr id="392" name="Text 42"/>
          <p:cNvSpPr txBox="1"/>
          <p:nvPr/>
        </p:nvSpPr>
        <p:spPr>
          <a:xfrm>
            <a:off x="7747158" y="5446633"/>
            <a:ext cx="6096955" cy="6565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Clinical Care Advisor (RN/MD) — Validates clinical protocols</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UX / Voice Design Lead — Healthcare voice interfaces</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Community Manager — Primary GTM engine</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Regulatory Counsel — HIPAA compliance &amp; FDA pathway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Shape 0"/>
          <p:cNvSpPr/>
          <p:nvPr/>
        </p:nvSpPr>
        <p:spPr>
          <a:xfrm>
            <a:off x="6280189" y="679250"/>
            <a:ext cx="580313" cy="213601"/>
          </a:xfrm>
          <a:prstGeom prst="roundRect">
            <a:avLst>
              <a:gd name="adj" fmla="val 20294"/>
            </a:avLst>
          </a:prstGeom>
          <a:solidFill>
            <a:srgbClr val="DAE7F1"/>
          </a:solidFill>
          <a:ln w="12700">
            <a:miter lim="400000"/>
          </a:ln>
        </p:spPr>
        <p:txBody>
          <a:bodyPr lIns="45718" tIns="45718" rIns="45718" bIns="45718"/>
          <a:lstStyle/>
          <a:p>
            <a:pPr>
              <a:defRPr>
                <a:latin typeface="+mj-lt"/>
                <a:ea typeface="+mj-ea"/>
                <a:cs typeface="+mj-cs"/>
                <a:sym typeface="Calibri"/>
              </a:defRPr>
            </a:pPr>
          </a:p>
        </p:txBody>
      </p:sp>
      <p:sp>
        <p:nvSpPr>
          <p:cNvPr id="395" name="Text 1"/>
          <p:cNvSpPr txBox="1"/>
          <p:nvPr/>
        </p:nvSpPr>
        <p:spPr>
          <a:xfrm>
            <a:off x="6357580" y="717947"/>
            <a:ext cx="44187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THE ASK</a:t>
            </a:r>
          </a:p>
        </p:txBody>
      </p:sp>
      <p:sp>
        <p:nvSpPr>
          <p:cNvPr id="396" name="Text 2"/>
          <p:cNvSpPr txBox="1"/>
          <p:nvPr/>
        </p:nvSpPr>
        <p:spPr>
          <a:xfrm>
            <a:off x="6280189" y="926304"/>
            <a:ext cx="2766486" cy="3879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2500">
                <a:solidFill>
                  <a:srgbClr val="272D45"/>
                </a:solidFill>
                <a:latin typeface="Martel Sans"/>
                <a:ea typeface="Martel Sans"/>
                <a:cs typeface="Martel Sans"/>
                <a:sym typeface="Martel Sans"/>
              </a:defRPr>
            </a:lvl1pPr>
          </a:lstStyle>
          <a:p>
            <a:pPr/>
            <a:r>
              <a:t>$500,000 Pre-Seed</a:t>
            </a:r>
          </a:p>
        </p:txBody>
      </p:sp>
      <p:sp>
        <p:nvSpPr>
          <p:cNvPr id="397" name="Text 3"/>
          <p:cNvSpPr txBox="1"/>
          <p:nvPr/>
        </p:nvSpPr>
        <p:spPr>
          <a:xfrm>
            <a:off x="6280189" y="1455182"/>
            <a:ext cx="5433703"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b="1" sz="1000">
                <a:solidFill>
                  <a:srgbClr val="383F5B"/>
                </a:solidFill>
                <a:latin typeface="Martel Sans Light"/>
                <a:ea typeface="Martel Sans Light"/>
                <a:cs typeface="Martel Sans Light"/>
                <a:sym typeface="Martel Sans Light"/>
              </a:defRPr>
            </a:lvl1pPr>
          </a:lstStyle>
          <a:p>
            <a:pPr/>
            <a:r>
              <a:t>Post-Money SAFE | $3M–$5M Valuation Cap | 20% Discount | Minimum viable raise: $400K</a:t>
            </a:r>
          </a:p>
        </p:txBody>
      </p:sp>
      <p:pic>
        <p:nvPicPr>
          <p:cNvPr id="398" name="Image 1" descr="Image 1"/>
          <p:cNvPicPr>
            <a:picLocks noChangeAspect="1"/>
          </p:cNvPicPr>
          <p:nvPr/>
        </p:nvPicPr>
        <p:blipFill>
          <a:blip r:embed="rId2">
            <a:extLst/>
          </a:blip>
          <a:stretch>
            <a:fillRect/>
          </a:stretch>
        </p:blipFill>
        <p:spPr>
          <a:xfrm>
            <a:off x="6280189" y="1795939"/>
            <a:ext cx="4911569" cy="2566156"/>
          </a:xfrm>
          <a:prstGeom prst="rect">
            <a:avLst/>
          </a:prstGeom>
          <a:ln w="12700">
            <a:miter lim="400000"/>
          </a:ln>
        </p:spPr>
      </p:pic>
      <p:sp>
        <p:nvSpPr>
          <p:cNvPr id="399" name="Shape 4"/>
          <p:cNvSpPr/>
          <p:nvPr/>
        </p:nvSpPr>
        <p:spPr>
          <a:xfrm>
            <a:off x="9320569" y="2717719"/>
            <a:ext cx="1478520" cy="164546"/>
          </a:xfrm>
          <a:prstGeom prst="roundRect">
            <a:avLst>
              <a:gd name="adj" fmla="val 50000"/>
            </a:avLst>
          </a:prstGeom>
          <a:solidFill>
            <a:srgbClr val="FFFFFF">
              <a:alpha val="20000"/>
            </a:srgbClr>
          </a:solidFill>
          <a:ln w="7620">
            <a:solidFill>
              <a:srgbClr val="000000"/>
            </a:solidFill>
          </a:ln>
        </p:spPr>
        <p:txBody>
          <a:bodyPr lIns="45718" tIns="45718" rIns="45718" bIns="45718"/>
          <a:lstStyle/>
          <a:p>
            <a:pPr>
              <a:defRPr>
                <a:latin typeface="+mj-lt"/>
                <a:ea typeface="+mj-ea"/>
                <a:cs typeface="+mj-cs"/>
                <a:sym typeface="Calibri"/>
              </a:defRPr>
            </a:pPr>
          </a:p>
        </p:txBody>
      </p:sp>
      <p:pic>
        <p:nvPicPr>
          <p:cNvPr id="400" name="Image 2" descr="Image 2"/>
          <p:cNvPicPr>
            <a:picLocks noChangeAspect="1"/>
          </p:cNvPicPr>
          <p:nvPr/>
        </p:nvPicPr>
        <p:blipFill>
          <a:blip r:embed="rId3">
            <a:extLst/>
          </a:blip>
          <a:stretch>
            <a:fillRect/>
          </a:stretch>
        </p:blipFill>
        <p:spPr>
          <a:xfrm>
            <a:off x="9373909" y="2754271"/>
            <a:ext cx="91442" cy="91443"/>
          </a:xfrm>
          <a:prstGeom prst="rect">
            <a:avLst/>
          </a:prstGeom>
          <a:ln w="12700">
            <a:miter lim="400000"/>
          </a:ln>
        </p:spPr>
      </p:pic>
      <p:sp>
        <p:nvSpPr>
          <p:cNvPr id="401" name="Text 5"/>
          <p:cNvSpPr txBox="1"/>
          <p:nvPr/>
        </p:nvSpPr>
        <p:spPr>
          <a:xfrm>
            <a:off x="9495828" y="2740580"/>
            <a:ext cx="1104895"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Product &amp; Engineering·40%</a:t>
            </a:r>
          </a:p>
        </p:txBody>
      </p:sp>
      <p:sp>
        <p:nvSpPr>
          <p:cNvPr id="402" name="Text 6"/>
          <p:cNvSpPr txBox="1"/>
          <p:nvPr/>
        </p:nvSpPr>
        <p:spPr>
          <a:xfrm>
            <a:off x="10467499" y="2740580"/>
            <a:ext cx="215330"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·40%</a:t>
            </a:r>
          </a:p>
        </p:txBody>
      </p:sp>
      <p:sp>
        <p:nvSpPr>
          <p:cNvPr id="403" name="Text 7"/>
          <p:cNvSpPr txBox="1"/>
          <p:nvPr/>
        </p:nvSpPr>
        <p:spPr>
          <a:xfrm>
            <a:off x="10504051" y="2740580"/>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04" name="Shape 8"/>
          <p:cNvSpPr/>
          <p:nvPr/>
        </p:nvSpPr>
        <p:spPr>
          <a:xfrm>
            <a:off x="9320569" y="2943225"/>
            <a:ext cx="1391247" cy="164545"/>
          </a:xfrm>
          <a:prstGeom prst="roundRect">
            <a:avLst>
              <a:gd name="adj" fmla="val 50000"/>
            </a:avLst>
          </a:prstGeom>
          <a:solidFill>
            <a:srgbClr val="FFFFFF">
              <a:alpha val="20000"/>
            </a:srgbClr>
          </a:solidFill>
          <a:ln w="7620">
            <a:solidFill>
              <a:srgbClr val="000000"/>
            </a:solidFill>
          </a:ln>
        </p:spPr>
        <p:txBody>
          <a:bodyPr lIns="45718" tIns="45718" rIns="45718" bIns="45718"/>
          <a:lstStyle/>
          <a:p>
            <a:pPr>
              <a:defRPr>
                <a:latin typeface="+mj-lt"/>
                <a:ea typeface="+mj-ea"/>
                <a:cs typeface="+mj-cs"/>
                <a:sym typeface="Calibri"/>
              </a:defRPr>
            </a:pPr>
          </a:p>
        </p:txBody>
      </p:sp>
      <p:pic>
        <p:nvPicPr>
          <p:cNvPr id="405" name="Image 3" descr="Image 3"/>
          <p:cNvPicPr>
            <a:picLocks noChangeAspect="1"/>
          </p:cNvPicPr>
          <p:nvPr/>
        </p:nvPicPr>
        <p:blipFill>
          <a:blip r:embed="rId4">
            <a:extLst/>
          </a:blip>
          <a:stretch>
            <a:fillRect/>
          </a:stretch>
        </p:blipFill>
        <p:spPr>
          <a:xfrm>
            <a:off x="9373909" y="2979777"/>
            <a:ext cx="91442" cy="91442"/>
          </a:xfrm>
          <a:prstGeom prst="rect">
            <a:avLst/>
          </a:prstGeom>
          <a:ln w="12700">
            <a:miter lim="400000"/>
          </a:ln>
        </p:spPr>
      </p:pic>
      <p:sp>
        <p:nvSpPr>
          <p:cNvPr id="406" name="Text 9"/>
          <p:cNvSpPr txBox="1"/>
          <p:nvPr/>
        </p:nvSpPr>
        <p:spPr>
          <a:xfrm>
            <a:off x="9495828" y="2966085"/>
            <a:ext cx="1030537"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Go-to-Market &amp; Beta·30%</a:t>
            </a:r>
          </a:p>
        </p:txBody>
      </p:sp>
      <p:sp>
        <p:nvSpPr>
          <p:cNvPr id="407" name="Text 10"/>
          <p:cNvSpPr txBox="1"/>
          <p:nvPr/>
        </p:nvSpPr>
        <p:spPr>
          <a:xfrm>
            <a:off x="10380226" y="2966085"/>
            <a:ext cx="215330"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·30%</a:t>
            </a:r>
          </a:p>
        </p:txBody>
      </p:sp>
      <p:sp>
        <p:nvSpPr>
          <p:cNvPr id="408" name="Text 11"/>
          <p:cNvSpPr txBox="1"/>
          <p:nvPr/>
        </p:nvSpPr>
        <p:spPr>
          <a:xfrm>
            <a:off x="10416778" y="2966085"/>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09" name="Shape 12"/>
          <p:cNvSpPr/>
          <p:nvPr/>
        </p:nvSpPr>
        <p:spPr>
          <a:xfrm>
            <a:off x="9320569" y="3168729"/>
            <a:ext cx="1332907" cy="164546"/>
          </a:xfrm>
          <a:prstGeom prst="roundRect">
            <a:avLst>
              <a:gd name="adj" fmla="val 50000"/>
            </a:avLst>
          </a:prstGeom>
          <a:solidFill>
            <a:srgbClr val="FFFFFF">
              <a:alpha val="20000"/>
            </a:srgbClr>
          </a:solidFill>
          <a:ln w="7620">
            <a:solidFill>
              <a:srgbClr val="000000"/>
            </a:solidFill>
          </a:ln>
        </p:spPr>
        <p:txBody>
          <a:bodyPr lIns="45718" tIns="45718" rIns="45718" bIns="45718"/>
          <a:lstStyle/>
          <a:p>
            <a:pPr>
              <a:defRPr>
                <a:latin typeface="+mj-lt"/>
                <a:ea typeface="+mj-ea"/>
                <a:cs typeface="+mj-cs"/>
                <a:sym typeface="Calibri"/>
              </a:defRPr>
            </a:pPr>
          </a:p>
        </p:txBody>
      </p:sp>
      <p:pic>
        <p:nvPicPr>
          <p:cNvPr id="410" name="Image 4" descr="Image 4"/>
          <p:cNvPicPr>
            <a:picLocks noChangeAspect="1"/>
          </p:cNvPicPr>
          <p:nvPr/>
        </p:nvPicPr>
        <p:blipFill>
          <a:blip r:embed="rId5">
            <a:extLst/>
          </a:blip>
          <a:stretch>
            <a:fillRect/>
          </a:stretch>
        </p:blipFill>
        <p:spPr>
          <a:xfrm>
            <a:off x="9373909" y="3205282"/>
            <a:ext cx="91442" cy="91442"/>
          </a:xfrm>
          <a:prstGeom prst="rect">
            <a:avLst/>
          </a:prstGeom>
          <a:ln w="12700">
            <a:miter lim="400000"/>
          </a:ln>
        </p:spPr>
      </p:pic>
      <p:sp>
        <p:nvSpPr>
          <p:cNvPr id="411" name="Text 13"/>
          <p:cNvSpPr txBox="1"/>
          <p:nvPr/>
        </p:nvSpPr>
        <p:spPr>
          <a:xfrm>
            <a:off x="9495828" y="3191587"/>
            <a:ext cx="976277"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Team &amp; Operations·30%</a:t>
            </a:r>
          </a:p>
        </p:txBody>
      </p:sp>
      <p:sp>
        <p:nvSpPr>
          <p:cNvPr id="412" name="Text 14"/>
          <p:cNvSpPr txBox="1"/>
          <p:nvPr/>
        </p:nvSpPr>
        <p:spPr>
          <a:xfrm>
            <a:off x="10321883" y="3191587"/>
            <a:ext cx="21533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·30%</a:t>
            </a:r>
          </a:p>
        </p:txBody>
      </p:sp>
      <p:sp>
        <p:nvSpPr>
          <p:cNvPr id="413" name="Text 15"/>
          <p:cNvSpPr txBox="1"/>
          <p:nvPr/>
        </p:nvSpPr>
        <p:spPr>
          <a:xfrm>
            <a:off x="10358438" y="3191587"/>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14" name="Shape 16"/>
          <p:cNvSpPr/>
          <p:nvPr/>
        </p:nvSpPr>
        <p:spPr>
          <a:xfrm>
            <a:off x="6280189" y="4564498"/>
            <a:ext cx="2462929" cy="1577580"/>
          </a:xfrm>
          <a:prstGeom prst="roundRect">
            <a:avLst>
              <a:gd name="adj" fmla="val 3435"/>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415" name="Text 17"/>
          <p:cNvSpPr txBox="1"/>
          <p:nvPr/>
        </p:nvSpPr>
        <p:spPr>
          <a:xfrm>
            <a:off x="6416754" y="4701063"/>
            <a:ext cx="2189800"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40% — Product &amp; Engineering ($200K)</a:t>
            </a:r>
          </a:p>
        </p:txBody>
      </p:sp>
      <p:sp>
        <p:nvSpPr>
          <p:cNvPr id="416" name="Text 18"/>
          <p:cNvSpPr txBox="1"/>
          <p:nvPr/>
        </p:nvSpPr>
        <p:spPr>
          <a:xfrm>
            <a:off x="6416754" y="5154216"/>
            <a:ext cx="2189800" cy="6565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Voice AI clinical accuracy refinement, premium feature development, multi-language medical vocabulary, App Store infrastructure.</a:t>
            </a:r>
          </a:p>
        </p:txBody>
      </p:sp>
      <p:sp>
        <p:nvSpPr>
          <p:cNvPr id="417" name="Shape 19"/>
          <p:cNvSpPr/>
          <p:nvPr/>
        </p:nvSpPr>
        <p:spPr>
          <a:xfrm>
            <a:off x="8826937" y="4564498"/>
            <a:ext cx="2462929" cy="1577580"/>
          </a:xfrm>
          <a:prstGeom prst="roundRect">
            <a:avLst>
              <a:gd name="adj" fmla="val 3435"/>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418" name="Text 20"/>
          <p:cNvSpPr txBox="1"/>
          <p:nvPr/>
        </p:nvSpPr>
        <p:spPr>
          <a:xfrm>
            <a:off x="8963500" y="4701063"/>
            <a:ext cx="2189800"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30% — Go-to-Market &amp; Beta ($150K)</a:t>
            </a:r>
          </a:p>
        </p:txBody>
      </p:sp>
      <p:sp>
        <p:nvSpPr>
          <p:cNvPr id="419" name="Text 21"/>
          <p:cNvSpPr txBox="1"/>
          <p:nvPr/>
        </p:nvSpPr>
        <p:spPr>
          <a:xfrm>
            <a:off x="8963500" y="5154214"/>
            <a:ext cx="2189800" cy="6565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Caregiver community outreach, hospital discharge desk partnerships, care center pilots, beta program operations.</a:t>
            </a:r>
          </a:p>
        </p:txBody>
      </p:sp>
      <p:sp>
        <p:nvSpPr>
          <p:cNvPr id="420" name="Shape 22"/>
          <p:cNvSpPr/>
          <p:nvPr/>
        </p:nvSpPr>
        <p:spPr>
          <a:xfrm>
            <a:off x="11373683" y="4564498"/>
            <a:ext cx="2462929" cy="1577580"/>
          </a:xfrm>
          <a:prstGeom prst="roundRect">
            <a:avLst>
              <a:gd name="adj" fmla="val 3435"/>
            </a:avLst>
          </a:prstGeom>
          <a:solidFill>
            <a:srgbClr val="DAE7F1"/>
          </a:solidFill>
          <a:ln w="7620">
            <a:solidFill>
              <a:srgbClr val="C0CDD7"/>
            </a:solidFill>
          </a:ln>
        </p:spPr>
        <p:txBody>
          <a:bodyPr lIns="45718" tIns="45718" rIns="45718" bIns="45718"/>
          <a:lstStyle/>
          <a:p>
            <a:pPr>
              <a:defRPr>
                <a:latin typeface="+mj-lt"/>
                <a:ea typeface="+mj-ea"/>
                <a:cs typeface="+mj-cs"/>
                <a:sym typeface="Calibri"/>
              </a:defRPr>
            </a:pPr>
          </a:p>
        </p:txBody>
      </p:sp>
      <p:sp>
        <p:nvSpPr>
          <p:cNvPr id="421" name="Text 23"/>
          <p:cNvSpPr txBox="1"/>
          <p:nvPr/>
        </p:nvSpPr>
        <p:spPr>
          <a:xfrm>
            <a:off x="11510246" y="4701063"/>
            <a:ext cx="2189801"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30% — Team &amp; Operations ($150K)</a:t>
            </a:r>
          </a:p>
        </p:txBody>
      </p:sp>
      <p:sp>
        <p:nvSpPr>
          <p:cNvPr id="422" name="Text 24"/>
          <p:cNvSpPr txBox="1"/>
          <p:nvPr/>
        </p:nvSpPr>
        <p:spPr>
          <a:xfrm>
            <a:off x="11510246" y="5154214"/>
            <a:ext cx="2189801" cy="491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Key hires (UX lead, clinical advisor, community manager), legal, infrastructure, compliance groundwork.</a:t>
            </a:r>
          </a:p>
        </p:txBody>
      </p:sp>
      <p:sp>
        <p:nvSpPr>
          <p:cNvPr id="423" name="Shape 25"/>
          <p:cNvSpPr/>
          <p:nvPr/>
        </p:nvSpPr>
        <p:spPr>
          <a:xfrm>
            <a:off x="6280189" y="6236375"/>
            <a:ext cx="7556422" cy="596267"/>
          </a:xfrm>
          <a:prstGeom prst="roundRect">
            <a:avLst>
              <a:gd name="adj" fmla="val 9087"/>
            </a:avLst>
          </a:prstGeom>
          <a:solidFill>
            <a:srgbClr val="B6FCB8"/>
          </a:solidFill>
          <a:ln w="12700">
            <a:miter lim="400000"/>
          </a:ln>
        </p:spPr>
        <p:txBody>
          <a:bodyPr lIns="45718" tIns="45718" rIns="45718" bIns="45718"/>
          <a:lstStyle/>
          <a:p>
            <a:pPr>
              <a:defRPr>
                <a:latin typeface="+mj-lt"/>
                <a:ea typeface="+mj-ea"/>
                <a:cs typeface="+mj-cs"/>
                <a:sym typeface="Calibri"/>
              </a:defRPr>
            </a:pPr>
          </a:p>
        </p:txBody>
      </p:sp>
      <p:pic>
        <p:nvPicPr>
          <p:cNvPr id="424" name="Image 5" descr="Image 5"/>
          <p:cNvPicPr>
            <a:picLocks noChangeAspect="1"/>
          </p:cNvPicPr>
          <p:nvPr/>
        </p:nvPicPr>
        <p:blipFill>
          <a:blip r:embed="rId6">
            <a:extLst/>
          </a:blip>
          <a:stretch>
            <a:fillRect/>
          </a:stretch>
        </p:blipFill>
        <p:spPr>
          <a:xfrm>
            <a:off x="6409132" y="6398895"/>
            <a:ext cx="161213" cy="128947"/>
          </a:xfrm>
          <a:prstGeom prst="rect">
            <a:avLst/>
          </a:prstGeom>
          <a:ln w="12700">
            <a:miter lim="400000"/>
          </a:ln>
        </p:spPr>
      </p:pic>
      <p:sp>
        <p:nvSpPr>
          <p:cNvPr id="425" name="Text 26"/>
          <p:cNvSpPr txBox="1"/>
          <p:nvPr/>
        </p:nvSpPr>
        <p:spPr>
          <a:xfrm>
            <a:off x="6699290" y="6352342"/>
            <a:ext cx="7008378" cy="326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latin typeface="Martel Sans Light"/>
                <a:ea typeface="Martel Sans Light"/>
                <a:cs typeface="Martel Sans Light"/>
                <a:sym typeface="Martel Sans Light"/>
              </a:defRPr>
            </a:lvl1pPr>
          </a:lstStyle>
          <a:p>
            <a:pPr/>
            <a:r>
              <a:t>$500K = 12–15 month runway | $400K minimum: App Store launch + structured beta + initial premium revenue | $500K full raise: PMF + 100+ active users + first enterprise conversations + Series A readiness</a:t>
            </a:r>
          </a:p>
        </p:txBody>
      </p:sp>
      <p:sp>
        <p:nvSpPr>
          <p:cNvPr id="426" name="Text 27"/>
          <p:cNvSpPr txBox="1"/>
          <p:nvPr/>
        </p:nvSpPr>
        <p:spPr>
          <a:xfrm>
            <a:off x="6473664" y="7021234"/>
            <a:ext cx="4599770"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"AuraGuide exists for one reason: no family caregiver should navigate this alone."</a:t>
            </a:r>
          </a:p>
        </p:txBody>
      </p:sp>
      <p:sp>
        <p:nvSpPr>
          <p:cNvPr id="427" name="Text 28"/>
          <p:cNvSpPr txBox="1"/>
          <p:nvPr/>
        </p:nvSpPr>
        <p:spPr>
          <a:xfrm>
            <a:off x="6473664" y="7285790"/>
            <a:ext cx="3426447"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300"/>
              </a:lnSpc>
              <a:defRPr sz="1000">
                <a:solidFill>
                  <a:srgbClr val="383F5B"/>
                </a:solidFill>
                <a:latin typeface="Martel Sans Light"/>
                <a:ea typeface="Martel Sans Light"/>
                <a:cs typeface="Martel Sans Light"/>
                <a:sym typeface="Martel Sans Light"/>
              </a:defRPr>
            </a:pPr>
            <a:r>
              <a:t>— </a:t>
            </a:r>
            <a:r>
              <a:rPr b="1"/>
              <a:t>Vikash Vardhanapu | Founder &amp; CEO | Patent Pending</a:t>
            </a:r>
          </a:p>
        </p:txBody>
      </p:sp>
      <p:sp>
        <p:nvSpPr>
          <p:cNvPr id="428" name="Shape 29"/>
          <p:cNvSpPr/>
          <p:nvPr/>
        </p:nvSpPr>
        <p:spPr>
          <a:xfrm>
            <a:off x="6280189" y="6926936"/>
            <a:ext cx="15242" cy="623413"/>
          </a:xfrm>
          <a:prstGeom prst="rect">
            <a:avLst/>
          </a:prstGeom>
          <a:solidFill>
            <a:srgbClr val="4682B4"/>
          </a:solidFill>
          <a:ln w="12700">
            <a:miter lim="400000"/>
          </a:ln>
        </p:spPr>
        <p:txBody>
          <a:bodyPr lIns="45718" tIns="45718" rIns="45718" bIns="45718"/>
          <a:lstStyle/>
          <a:p>
            <a:pPr>
              <a:defRPr>
                <a:latin typeface="+mj-lt"/>
                <a:ea typeface="+mj-ea"/>
                <a:cs typeface="+mj-cs"/>
                <a:sym typeface="Calibri"/>
              </a:defRPr>
            </a:pPr>
          </a:p>
        </p:txBody>
      </p:sp>
      <p:pic>
        <p:nvPicPr>
          <p:cNvPr id="429" name="pasted-movie.png" descr="pasted-movie.png"/>
          <p:cNvPicPr>
            <a:picLocks noChangeAspect="1"/>
          </p:cNvPicPr>
          <p:nvPr/>
        </p:nvPicPr>
        <p:blipFill>
          <a:blip r:embed="rId7">
            <a:extLst/>
          </a:blip>
          <a:stretch>
            <a:fillRect/>
          </a:stretch>
        </p:blipFill>
        <p:spPr>
          <a:xfrm>
            <a:off x="-81988" y="-1"/>
            <a:ext cx="5481043" cy="822960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